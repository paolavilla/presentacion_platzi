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80" r:id="rId24"/>
    <p:sldId id="278" r:id="rId25"/>
    <p:sldId id="279"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CE0AD89D-D3B6-40EE-8E56-2A2DA8CBB880}" type="datetimeFigureOut">
              <a:rPr lang="es-EC" smtClean="0"/>
              <a:t>28/2/2019</a:t>
            </a:fld>
            <a:endParaRPr lang="es-EC"/>
          </a:p>
        </p:txBody>
      </p:sp>
      <p:sp>
        <p:nvSpPr>
          <p:cNvPr id="5" name="Footer Placeholder 4"/>
          <p:cNvSpPr>
            <a:spLocks noGrp="1"/>
          </p:cNvSpPr>
          <p:nvPr>
            <p:ph type="ftr" sz="quarter" idx="11"/>
          </p:nvPr>
        </p:nvSpPr>
        <p:spPr/>
        <p:txBody>
          <a:bodyPr/>
          <a:lstStyle/>
          <a:p>
            <a:endParaRPr lang="es-EC"/>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8AB7AC7B-54CC-4655-84B6-CD75B02ADE38}" type="slidenum">
              <a:rPr lang="es-EC" smtClean="0"/>
              <a:t>‹Nº›</a:t>
            </a:fld>
            <a:endParaRPr lang="es-EC"/>
          </a:p>
        </p:txBody>
      </p:sp>
    </p:spTree>
    <p:extLst>
      <p:ext uri="{BB962C8B-B14F-4D97-AF65-F5344CB8AC3E}">
        <p14:creationId xmlns:p14="http://schemas.microsoft.com/office/powerpoint/2010/main" val="3278959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CE0AD89D-D3B6-40EE-8E56-2A2DA8CBB880}" type="datetimeFigureOut">
              <a:rPr lang="es-EC" smtClean="0"/>
              <a:t>28/2/2019</a:t>
            </a:fld>
            <a:endParaRPr lang="es-EC"/>
          </a:p>
        </p:txBody>
      </p:sp>
      <p:sp>
        <p:nvSpPr>
          <p:cNvPr id="5" name="Footer Placeholder 4"/>
          <p:cNvSpPr>
            <a:spLocks noGrp="1"/>
          </p:cNvSpPr>
          <p:nvPr>
            <p:ph type="ftr" sz="quarter" idx="11"/>
          </p:nvPr>
        </p:nvSpPr>
        <p:spPr/>
        <p:txBody>
          <a:bodyPr/>
          <a:lstStyle/>
          <a:p>
            <a:endParaRPr lang="es-EC"/>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AB7AC7B-54CC-4655-84B6-CD75B02ADE38}" type="slidenum">
              <a:rPr lang="es-EC" smtClean="0"/>
              <a:t>‹Nº›</a:t>
            </a:fld>
            <a:endParaRPr lang="es-EC"/>
          </a:p>
        </p:txBody>
      </p:sp>
    </p:spTree>
    <p:extLst>
      <p:ext uri="{BB962C8B-B14F-4D97-AF65-F5344CB8AC3E}">
        <p14:creationId xmlns:p14="http://schemas.microsoft.com/office/powerpoint/2010/main" val="3701540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CE0AD89D-D3B6-40EE-8E56-2A2DA8CBB880}" type="datetimeFigureOut">
              <a:rPr lang="es-EC" smtClean="0"/>
              <a:t>28/2/2019</a:t>
            </a:fld>
            <a:endParaRPr lang="es-EC"/>
          </a:p>
        </p:txBody>
      </p:sp>
      <p:sp>
        <p:nvSpPr>
          <p:cNvPr id="5" name="Footer Placeholder 4"/>
          <p:cNvSpPr>
            <a:spLocks noGrp="1"/>
          </p:cNvSpPr>
          <p:nvPr>
            <p:ph type="ftr" sz="quarter" idx="11"/>
          </p:nvPr>
        </p:nvSpPr>
        <p:spPr/>
        <p:txBody>
          <a:bodyPr/>
          <a:lstStyle/>
          <a:p>
            <a:endParaRPr lang="es-EC"/>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AB7AC7B-54CC-4655-84B6-CD75B02ADE38}" type="slidenum">
              <a:rPr lang="es-EC" smtClean="0"/>
              <a:t>‹Nº›</a:t>
            </a:fld>
            <a:endParaRPr lang="es-EC"/>
          </a:p>
        </p:txBody>
      </p:sp>
    </p:spTree>
    <p:extLst>
      <p:ext uri="{BB962C8B-B14F-4D97-AF65-F5344CB8AC3E}">
        <p14:creationId xmlns:p14="http://schemas.microsoft.com/office/powerpoint/2010/main" val="3898790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CE0AD89D-D3B6-40EE-8E56-2A2DA8CBB880}" type="datetimeFigureOut">
              <a:rPr lang="es-EC" smtClean="0"/>
              <a:t>28/2/2019</a:t>
            </a:fld>
            <a:endParaRPr lang="es-EC"/>
          </a:p>
        </p:txBody>
      </p:sp>
      <p:sp>
        <p:nvSpPr>
          <p:cNvPr id="6" name="Footer Placeholder 5"/>
          <p:cNvSpPr>
            <a:spLocks noGrp="1"/>
          </p:cNvSpPr>
          <p:nvPr>
            <p:ph type="ftr" sz="quarter" idx="11"/>
          </p:nvPr>
        </p:nvSpPr>
        <p:spPr/>
        <p:txBody>
          <a:bodyPr/>
          <a:lstStyle/>
          <a:p>
            <a:endParaRPr lang="es-EC"/>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AB7AC7B-54CC-4655-84B6-CD75B02ADE38}" type="slidenum">
              <a:rPr lang="es-EC" smtClean="0"/>
              <a:t>‹Nº›</a:t>
            </a:fld>
            <a:endParaRPr lang="es-EC"/>
          </a:p>
        </p:txBody>
      </p:sp>
    </p:spTree>
    <p:extLst>
      <p:ext uri="{BB962C8B-B14F-4D97-AF65-F5344CB8AC3E}">
        <p14:creationId xmlns:p14="http://schemas.microsoft.com/office/powerpoint/2010/main" val="649123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CE0AD89D-D3B6-40EE-8E56-2A2DA8CBB880}" type="datetimeFigureOut">
              <a:rPr lang="es-EC" smtClean="0"/>
              <a:t>28/2/2019</a:t>
            </a:fld>
            <a:endParaRPr lang="es-EC"/>
          </a:p>
        </p:txBody>
      </p:sp>
      <p:sp>
        <p:nvSpPr>
          <p:cNvPr id="8" name="Footer Placeholder 7"/>
          <p:cNvSpPr>
            <a:spLocks noGrp="1"/>
          </p:cNvSpPr>
          <p:nvPr>
            <p:ph type="ftr" sz="quarter" idx="11"/>
          </p:nvPr>
        </p:nvSpPr>
        <p:spPr/>
        <p:txBody>
          <a:bodyPr/>
          <a:lstStyle/>
          <a:p>
            <a:endParaRPr lang="es-EC"/>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AB7AC7B-54CC-4655-84B6-CD75B02ADE38}" type="slidenum">
              <a:rPr lang="es-EC" smtClean="0"/>
              <a:t>‹Nº›</a:t>
            </a:fld>
            <a:endParaRPr lang="es-EC"/>
          </a:p>
        </p:txBody>
      </p:sp>
    </p:spTree>
    <p:extLst>
      <p:ext uri="{BB962C8B-B14F-4D97-AF65-F5344CB8AC3E}">
        <p14:creationId xmlns:p14="http://schemas.microsoft.com/office/powerpoint/2010/main" val="14669975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CE0AD89D-D3B6-40EE-8E56-2A2DA8CBB880}" type="datetimeFigureOut">
              <a:rPr lang="es-EC" smtClean="0"/>
              <a:t>28/2/2019</a:t>
            </a:fld>
            <a:endParaRPr lang="es-EC"/>
          </a:p>
        </p:txBody>
      </p:sp>
      <p:sp>
        <p:nvSpPr>
          <p:cNvPr id="4" name="Footer Placeholder 3"/>
          <p:cNvSpPr>
            <a:spLocks noGrp="1"/>
          </p:cNvSpPr>
          <p:nvPr>
            <p:ph type="ftr" sz="quarter" idx="11"/>
          </p:nvPr>
        </p:nvSpPr>
        <p:spPr/>
        <p:txBody>
          <a:bodyPr/>
          <a:lstStyle/>
          <a:p>
            <a:endParaRPr lang="es-EC"/>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8AB7AC7B-54CC-4655-84B6-CD75B02ADE38}" type="slidenum">
              <a:rPr lang="es-EC" smtClean="0"/>
              <a:t>‹Nº›</a:t>
            </a:fld>
            <a:endParaRPr lang="es-EC"/>
          </a:p>
        </p:txBody>
      </p:sp>
    </p:spTree>
    <p:extLst>
      <p:ext uri="{BB962C8B-B14F-4D97-AF65-F5344CB8AC3E}">
        <p14:creationId xmlns:p14="http://schemas.microsoft.com/office/powerpoint/2010/main" val="169152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0AD89D-D3B6-40EE-8E56-2A2DA8CBB880}" type="datetimeFigureOut">
              <a:rPr lang="es-EC" smtClean="0"/>
              <a:t>28/2/2019</a:t>
            </a:fld>
            <a:endParaRPr lang="es-EC"/>
          </a:p>
        </p:txBody>
      </p:sp>
      <p:sp>
        <p:nvSpPr>
          <p:cNvPr id="3" name="Footer Placeholder 2"/>
          <p:cNvSpPr>
            <a:spLocks noGrp="1"/>
          </p:cNvSpPr>
          <p:nvPr>
            <p:ph type="ftr" sz="quarter" idx="11"/>
          </p:nvPr>
        </p:nvSpPr>
        <p:spPr/>
        <p:txBody>
          <a:bodyPr/>
          <a:lstStyle/>
          <a:p>
            <a:endParaRPr lang="es-EC"/>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8AB7AC7B-54CC-4655-84B6-CD75B02ADE38}" type="slidenum">
              <a:rPr lang="es-EC" smtClean="0"/>
              <a:t>‹Nº›</a:t>
            </a:fld>
            <a:endParaRPr lang="es-EC"/>
          </a:p>
        </p:txBody>
      </p:sp>
    </p:spTree>
    <p:extLst>
      <p:ext uri="{BB962C8B-B14F-4D97-AF65-F5344CB8AC3E}">
        <p14:creationId xmlns:p14="http://schemas.microsoft.com/office/powerpoint/2010/main" val="530487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CE0AD89D-D3B6-40EE-8E56-2A2DA8CBB880}" type="datetimeFigureOut">
              <a:rPr lang="es-EC" smtClean="0"/>
              <a:t>28/2/2019</a:t>
            </a:fld>
            <a:endParaRPr lang="es-EC"/>
          </a:p>
        </p:txBody>
      </p:sp>
      <p:sp>
        <p:nvSpPr>
          <p:cNvPr id="6" name="Footer Placeholder 5"/>
          <p:cNvSpPr>
            <a:spLocks noGrp="1"/>
          </p:cNvSpPr>
          <p:nvPr>
            <p:ph type="ftr" sz="quarter" idx="11"/>
          </p:nvPr>
        </p:nvSpPr>
        <p:spPr/>
        <p:txBody>
          <a:bodyPr/>
          <a:lstStyle/>
          <a:p>
            <a:endParaRPr lang="es-EC"/>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8AB7AC7B-54CC-4655-84B6-CD75B02ADE38}" type="slidenum">
              <a:rPr lang="es-EC" smtClean="0"/>
              <a:t>‹Nº›</a:t>
            </a:fld>
            <a:endParaRPr lang="es-EC"/>
          </a:p>
        </p:txBody>
      </p:sp>
    </p:spTree>
    <p:extLst>
      <p:ext uri="{BB962C8B-B14F-4D97-AF65-F5344CB8AC3E}">
        <p14:creationId xmlns:p14="http://schemas.microsoft.com/office/powerpoint/2010/main" val="4077149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CE0AD89D-D3B6-40EE-8E56-2A2DA8CBB880}" type="datetimeFigureOut">
              <a:rPr lang="es-EC" smtClean="0"/>
              <a:t>28/2/2019</a:t>
            </a:fld>
            <a:endParaRPr lang="es-EC"/>
          </a:p>
        </p:txBody>
      </p:sp>
      <p:sp>
        <p:nvSpPr>
          <p:cNvPr id="6" name="Footer Placeholder 5"/>
          <p:cNvSpPr>
            <a:spLocks noGrp="1"/>
          </p:cNvSpPr>
          <p:nvPr>
            <p:ph type="ftr" sz="quarter" idx="11"/>
          </p:nvPr>
        </p:nvSpPr>
        <p:spPr/>
        <p:txBody>
          <a:bodyPr/>
          <a:lstStyle/>
          <a:p>
            <a:endParaRPr lang="es-EC"/>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AB7AC7B-54CC-4655-84B6-CD75B02ADE38}" type="slidenum">
              <a:rPr lang="es-EC" smtClean="0"/>
              <a:t>‹Nº›</a:t>
            </a:fld>
            <a:endParaRPr lang="es-EC"/>
          </a:p>
        </p:txBody>
      </p:sp>
    </p:spTree>
    <p:extLst>
      <p:ext uri="{BB962C8B-B14F-4D97-AF65-F5344CB8AC3E}">
        <p14:creationId xmlns:p14="http://schemas.microsoft.com/office/powerpoint/2010/main" val="1461638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CE0AD89D-D3B6-40EE-8E56-2A2DA8CBB880}" type="datetimeFigureOut">
              <a:rPr lang="es-EC" smtClean="0"/>
              <a:t>28/2/2019</a:t>
            </a:fld>
            <a:endParaRPr lang="es-EC"/>
          </a:p>
        </p:txBody>
      </p:sp>
      <p:sp>
        <p:nvSpPr>
          <p:cNvPr id="5" name="Footer Placeholder 4"/>
          <p:cNvSpPr>
            <a:spLocks noGrp="1"/>
          </p:cNvSpPr>
          <p:nvPr>
            <p:ph type="ftr" sz="quarter" idx="11"/>
          </p:nvPr>
        </p:nvSpPr>
        <p:spPr/>
        <p:txBody>
          <a:bodyPr/>
          <a:lstStyle/>
          <a:p>
            <a:endParaRPr lang="es-EC"/>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AB7AC7B-54CC-4655-84B6-CD75B02ADE38}" type="slidenum">
              <a:rPr lang="es-EC" smtClean="0"/>
              <a:t>‹Nº›</a:t>
            </a:fld>
            <a:endParaRPr lang="es-EC"/>
          </a:p>
        </p:txBody>
      </p:sp>
    </p:spTree>
    <p:extLst>
      <p:ext uri="{BB962C8B-B14F-4D97-AF65-F5344CB8AC3E}">
        <p14:creationId xmlns:p14="http://schemas.microsoft.com/office/powerpoint/2010/main" val="3648956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smtClean="0"/>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CE0AD89D-D3B6-40EE-8E56-2A2DA8CBB880}" type="datetimeFigureOut">
              <a:rPr lang="es-EC" smtClean="0"/>
              <a:t>28/2/2019</a:t>
            </a:fld>
            <a:endParaRPr lang="es-EC"/>
          </a:p>
        </p:txBody>
      </p:sp>
      <p:sp>
        <p:nvSpPr>
          <p:cNvPr id="5" name="Footer Placeholder 4"/>
          <p:cNvSpPr>
            <a:spLocks noGrp="1"/>
          </p:cNvSpPr>
          <p:nvPr>
            <p:ph type="ftr" sz="quarter" idx="11"/>
          </p:nvPr>
        </p:nvSpPr>
        <p:spPr/>
        <p:txBody>
          <a:bodyPr/>
          <a:lstStyle/>
          <a:p>
            <a:endParaRPr lang="es-EC"/>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AB7AC7B-54CC-4655-84B6-CD75B02ADE38}" type="slidenum">
              <a:rPr lang="es-EC" smtClean="0"/>
              <a:t>‹Nº›</a:t>
            </a:fld>
            <a:endParaRPr lang="es-EC"/>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171670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smtClean="0"/>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Haga clic para modificar el estilo de texto del patrón</a:t>
            </a:r>
          </a:p>
        </p:txBody>
      </p:sp>
      <p:sp>
        <p:nvSpPr>
          <p:cNvPr id="5" name="Date Placeholder 4"/>
          <p:cNvSpPr>
            <a:spLocks noGrp="1"/>
          </p:cNvSpPr>
          <p:nvPr>
            <p:ph type="dt" sz="half" idx="10"/>
          </p:nvPr>
        </p:nvSpPr>
        <p:spPr/>
        <p:txBody>
          <a:bodyPr/>
          <a:lstStyle/>
          <a:p>
            <a:fld id="{CE0AD89D-D3B6-40EE-8E56-2A2DA8CBB880}" type="datetimeFigureOut">
              <a:rPr lang="es-EC" smtClean="0"/>
              <a:t>28/2/2019</a:t>
            </a:fld>
            <a:endParaRPr lang="es-EC"/>
          </a:p>
        </p:txBody>
      </p:sp>
      <p:sp>
        <p:nvSpPr>
          <p:cNvPr id="6" name="Footer Placeholder 5"/>
          <p:cNvSpPr>
            <a:spLocks noGrp="1"/>
          </p:cNvSpPr>
          <p:nvPr>
            <p:ph type="ftr" sz="quarter" idx="11"/>
          </p:nvPr>
        </p:nvSpPr>
        <p:spPr/>
        <p:txBody>
          <a:bodyPr/>
          <a:lstStyle/>
          <a:p>
            <a:endParaRPr lang="es-EC"/>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AB7AC7B-54CC-4655-84B6-CD75B02ADE38}" type="slidenum">
              <a:rPr lang="es-EC" smtClean="0"/>
              <a:t>‹Nº›</a:t>
            </a:fld>
            <a:endParaRPr lang="es-EC"/>
          </a:p>
        </p:txBody>
      </p:sp>
    </p:spTree>
    <p:extLst>
      <p:ext uri="{BB962C8B-B14F-4D97-AF65-F5344CB8AC3E}">
        <p14:creationId xmlns:p14="http://schemas.microsoft.com/office/powerpoint/2010/main" val="28836860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smtClean="0"/>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Haga clic para modificar el estilo de texto del patrón</a:t>
            </a:r>
          </a:p>
        </p:txBody>
      </p:sp>
      <p:sp>
        <p:nvSpPr>
          <p:cNvPr id="5" name="Date Placeholder 4"/>
          <p:cNvSpPr>
            <a:spLocks noGrp="1"/>
          </p:cNvSpPr>
          <p:nvPr>
            <p:ph type="dt" sz="half" idx="10"/>
          </p:nvPr>
        </p:nvSpPr>
        <p:spPr/>
        <p:txBody>
          <a:bodyPr/>
          <a:lstStyle/>
          <a:p>
            <a:fld id="{CE0AD89D-D3B6-40EE-8E56-2A2DA8CBB880}" type="datetimeFigureOut">
              <a:rPr lang="es-EC" smtClean="0"/>
              <a:t>28/2/2019</a:t>
            </a:fld>
            <a:endParaRPr lang="es-EC"/>
          </a:p>
        </p:txBody>
      </p:sp>
      <p:sp>
        <p:nvSpPr>
          <p:cNvPr id="6" name="Footer Placeholder 5"/>
          <p:cNvSpPr>
            <a:spLocks noGrp="1"/>
          </p:cNvSpPr>
          <p:nvPr>
            <p:ph type="ftr" sz="quarter" idx="11"/>
          </p:nvPr>
        </p:nvSpPr>
        <p:spPr/>
        <p:txBody>
          <a:bodyPr/>
          <a:lstStyle/>
          <a:p>
            <a:endParaRPr lang="es-EC"/>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AB7AC7B-54CC-4655-84B6-CD75B02ADE38}" type="slidenum">
              <a:rPr lang="es-EC" smtClean="0"/>
              <a:t>‹Nº›</a:t>
            </a:fld>
            <a:endParaRPr lang="es-EC"/>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7058560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smtClean="0"/>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Haga clic para modificar el estilo de texto del patrón</a:t>
            </a:r>
          </a:p>
        </p:txBody>
      </p:sp>
      <p:sp>
        <p:nvSpPr>
          <p:cNvPr id="5" name="Date Placeholder 4"/>
          <p:cNvSpPr>
            <a:spLocks noGrp="1"/>
          </p:cNvSpPr>
          <p:nvPr>
            <p:ph type="dt" sz="half" idx="10"/>
          </p:nvPr>
        </p:nvSpPr>
        <p:spPr/>
        <p:txBody>
          <a:bodyPr/>
          <a:lstStyle/>
          <a:p>
            <a:fld id="{CE0AD89D-D3B6-40EE-8E56-2A2DA8CBB880}" type="datetimeFigureOut">
              <a:rPr lang="es-EC" smtClean="0"/>
              <a:t>28/2/2019</a:t>
            </a:fld>
            <a:endParaRPr lang="es-EC"/>
          </a:p>
        </p:txBody>
      </p:sp>
      <p:sp>
        <p:nvSpPr>
          <p:cNvPr id="6" name="Footer Placeholder 5"/>
          <p:cNvSpPr>
            <a:spLocks noGrp="1"/>
          </p:cNvSpPr>
          <p:nvPr>
            <p:ph type="ftr" sz="quarter" idx="11"/>
          </p:nvPr>
        </p:nvSpPr>
        <p:spPr/>
        <p:txBody>
          <a:bodyPr/>
          <a:lstStyle/>
          <a:p>
            <a:endParaRPr lang="es-EC"/>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AB7AC7B-54CC-4655-84B6-CD75B02ADE38}" type="slidenum">
              <a:rPr lang="es-EC" smtClean="0"/>
              <a:t>‹Nº›</a:t>
            </a:fld>
            <a:endParaRPr lang="es-EC"/>
          </a:p>
        </p:txBody>
      </p:sp>
    </p:spTree>
    <p:extLst>
      <p:ext uri="{BB962C8B-B14F-4D97-AF65-F5344CB8AC3E}">
        <p14:creationId xmlns:p14="http://schemas.microsoft.com/office/powerpoint/2010/main" val="21619279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CE0AD89D-D3B6-40EE-8E56-2A2DA8CBB880}" type="datetimeFigureOut">
              <a:rPr lang="es-EC" smtClean="0"/>
              <a:t>28/2/2019</a:t>
            </a:fld>
            <a:endParaRPr lang="es-EC"/>
          </a:p>
        </p:txBody>
      </p:sp>
      <p:sp>
        <p:nvSpPr>
          <p:cNvPr id="5" name="Footer Placeholder 4"/>
          <p:cNvSpPr>
            <a:spLocks noGrp="1"/>
          </p:cNvSpPr>
          <p:nvPr>
            <p:ph type="ftr" sz="quarter" idx="11"/>
          </p:nvPr>
        </p:nvSpPr>
        <p:spPr/>
        <p:txBody>
          <a:bodyPr/>
          <a:lstStyle/>
          <a:p>
            <a:endParaRPr lang="es-EC"/>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AB7AC7B-54CC-4655-84B6-CD75B02ADE38}" type="slidenum">
              <a:rPr lang="es-EC" smtClean="0"/>
              <a:t>‹Nº›</a:t>
            </a:fld>
            <a:endParaRPr lang="es-EC"/>
          </a:p>
        </p:txBody>
      </p:sp>
    </p:spTree>
    <p:extLst>
      <p:ext uri="{BB962C8B-B14F-4D97-AF65-F5344CB8AC3E}">
        <p14:creationId xmlns:p14="http://schemas.microsoft.com/office/powerpoint/2010/main" val="8750763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CE0AD89D-D3B6-40EE-8E56-2A2DA8CBB880}" type="datetimeFigureOut">
              <a:rPr lang="es-EC" smtClean="0"/>
              <a:t>28/2/2019</a:t>
            </a:fld>
            <a:endParaRPr lang="es-EC"/>
          </a:p>
        </p:txBody>
      </p:sp>
      <p:sp>
        <p:nvSpPr>
          <p:cNvPr id="5" name="Footer Placeholder 4"/>
          <p:cNvSpPr>
            <a:spLocks noGrp="1"/>
          </p:cNvSpPr>
          <p:nvPr>
            <p:ph type="ftr" sz="quarter" idx="11"/>
          </p:nvPr>
        </p:nvSpPr>
        <p:spPr/>
        <p:txBody>
          <a:bodyPr/>
          <a:lstStyle/>
          <a:p>
            <a:endParaRPr lang="es-EC"/>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AB7AC7B-54CC-4655-84B6-CD75B02ADE38}" type="slidenum">
              <a:rPr lang="es-EC" smtClean="0"/>
              <a:t>‹Nº›</a:t>
            </a:fld>
            <a:endParaRPr lang="es-EC"/>
          </a:p>
        </p:txBody>
      </p:sp>
    </p:spTree>
    <p:extLst>
      <p:ext uri="{BB962C8B-B14F-4D97-AF65-F5344CB8AC3E}">
        <p14:creationId xmlns:p14="http://schemas.microsoft.com/office/powerpoint/2010/main" val="2377298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CE0AD89D-D3B6-40EE-8E56-2A2DA8CBB880}" type="datetimeFigureOut">
              <a:rPr lang="es-EC" smtClean="0"/>
              <a:t>28/2/2019</a:t>
            </a:fld>
            <a:endParaRPr lang="es-EC"/>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EC"/>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8AB7AC7B-54CC-4655-84B6-CD75B02ADE38}" type="slidenum">
              <a:rPr lang="es-EC" smtClean="0"/>
              <a:t>‹Nº›</a:t>
            </a:fld>
            <a:endParaRPr lang="es-EC"/>
          </a:p>
        </p:txBody>
      </p:sp>
    </p:spTree>
    <p:extLst>
      <p:ext uri="{BB962C8B-B14F-4D97-AF65-F5344CB8AC3E}">
        <p14:creationId xmlns:p14="http://schemas.microsoft.com/office/powerpoint/2010/main" val="3431917754"/>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511122" y="476518"/>
            <a:ext cx="9144000" cy="6040191"/>
          </a:xfrm>
        </p:spPr>
        <p:txBody>
          <a:bodyPr>
            <a:normAutofit fontScale="90000"/>
          </a:bodyPr>
          <a:lstStyle/>
          <a:p>
            <a:pPr algn="ctr"/>
            <a:r>
              <a:rPr lang="es-MX" sz="4900" b="1" dirty="0" smtClean="0"/>
              <a:t>INSTITUTO SUPERIOR TECNOLOGICO “RUMIÑAHUI”</a:t>
            </a:r>
            <a:r>
              <a:rPr lang="es-MX" b="1" dirty="0" smtClean="0"/>
              <a:t/>
            </a:r>
            <a:br>
              <a:rPr lang="es-MX" b="1" dirty="0" smtClean="0"/>
            </a:br>
            <a:r>
              <a:rPr lang="es-MX" b="1" dirty="0"/>
              <a:t/>
            </a:r>
            <a:br>
              <a:rPr lang="es-MX" b="1" dirty="0"/>
            </a:br>
            <a:r>
              <a:rPr lang="es-MX" sz="4900" b="1" dirty="0" smtClean="0"/>
              <a:t>SEGURIDAD INFORMÁTICA</a:t>
            </a:r>
            <a:br>
              <a:rPr lang="es-MX" sz="4900" b="1" dirty="0" smtClean="0"/>
            </a:br>
            <a:r>
              <a:rPr lang="es-MX" sz="4900" b="1" dirty="0"/>
              <a:t/>
            </a:r>
            <a:br>
              <a:rPr lang="es-MX" sz="4900" b="1" dirty="0"/>
            </a:br>
            <a:r>
              <a:rPr lang="es-MX" sz="4900" b="1" dirty="0" smtClean="0"/>
              <a:t>6to SISTEMAS</a:t>
            </a:r>
            <a:br>
              <a:rPr lang="es-MX" sz="4900" b="1" dirty="0" smtClean="0"/>
            </a:br>
            <a:r>
              <a:rPr lang="es-MX" sz="4900" b="1" dirty="0"/>
              <a:t/>
            </a:r>
            <a:br>
              <a:rPr lang="es-MX" sz="4900" b="1" dirty="0"/>
            </a:br>
            <a:r>
              <a:rPr lang="es-MX" sz="4900" b="1" dirty="0" smtClean="0"/>
              <a:t>PAOLA VILLA</a:t>
            </a:r>
            <a:endParaRPr lang="es-EC" sz="4900" b="1" dirty="0"/>
          </a:p>
        </p:txBody>
      </p:sp>
      <p:pic>
        <p:nvPicPr>
          <p:cNvPr id="4" name="Imagen 3" descr="C:\Users\JEISON\Pictures\14590479_1310427722301348_8985111368925210198_n.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1069" y="135894"/>
            <a:ext cx="1504950" cy="1511935"/>
          </a:xfrm>
          <a:prstGeom prst="rect">
            <a:avLst/>
          </a:prstGeom>
          <a:noFill/>
          <a:ln>
            <a:noFill/>
          </a:ln>
        </p:spPr>
      </p:pic>
    </p:spTree>
    <p:extLst>
      <p:ext uri="{BB962C8B-B14F-4D97-AF65-F5344CB8AC3E}">
        <p14:creationId xmlns:p14="http://schemas.microsoft.com/office/powerpoint/2010/main" val="27106368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err="1" smtClean="0"/>
              <a:t>Pentesting</a:t>
            </a:r>
            <a:endParaRPr lang="es-EC" b="1" dirty="0"/>
          </a:p>
        </p:txBody>
      </p:sp>
      <p:sp>
        <p:nvSpPr>
          <p:cNvPr id="3" name="Marcador de contenido 2"/>
          <p:cNvSpPr>
            <a:spLocks noGrp="1"/>
          </p:cNvSpPr>
          <p:nvPr>
            <p:ph idx="1"/>
          </p:nvPr>
        </p:nvSpPr>
        <p:spPr/>
        <p:txBody>
          <a:bodyPr>
            <a:normAutofit/>
          </a:bodyPr>
          <a:lstStyle/>
          <a:p>
            <a:pPr algn="just"/>
            <a:r>
              <a:rPr lang="es-MX" sz="2000" dirty="0" smtClean="0"/>
              <a:t>Es un </a:t>
            </a:r>
            <a:r>
              <a:rPr lang="es-MX" sz="2000" dirty="0"/>
              <a:t>test de penetración </a:t>
            </a:r>
            <a:r>
              <a:rPr lang="es-MX" sz="2000" dirty="0" smtClean="0"/>
              <a:t>que consiste </a:t>
            </a:r>
            <a:r>
              <a:rPr lang="es-MX" sz="2000" dirty="0"/>
              <a:t>en pruebas ofensivas contra los mecanismos de defensa existentes en el entorno que se está analizando. Estas pruebas comprenden desde el análisis de dispositivos físicos y digitales, hasta el análisis del factor humano utilizando Ingeniería Social</a:t>
            </a:r>
            <a:r>
              <a:rPr lang="es-MX" sz="2000" dirty="0" smtClean="0"/>
              <a:t>.</a:t>
            </a:r>
          </a:p>
          <a:p>
            <a:pPr algn="just"/>
            <a:endParaRPr lang="es-MX" sz="2000" dirty="0" smtClean="0"/>
          </a:p>
          <a:p>
            <a:pPr algn="just"/>
            <a:r>
              <a:rPr lang="es-MX" sz="2000" dirty="0"/>
              <a:t> El objetivo de estas pruebas es verificar bajo situaciones extremas cuál es el comportamiento de los mecanismos de defensa, específicamente, se busca detectar vulnerabilidades en los mismos. </a:t>
            </a:r>
            <a:endParaRPr lang="es-EC" sz="2000" dirty="0"/>
          </a:p>
        </p:txBody>
      </p:sp>
    </p:spTree>
    <p:extLst>
      <p:ext uri="{BB962C8B-B14F-4D97-AF65-F5344CB8AC3E}">
        <p14:creationId xmlns:p14="http://schemas.microsoft.com/office/powerpoint/2010/main" val="2514691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a:t>F</a:t>
            </a:r>
            <a:r>
              <a:rPr lang="es-EC" b="1" dirty="0" smtClean="0"/>
              <a:t>ases </a:t>
            </a:r>
            <a:r>
              <a:rPr lang="es-EC" b="1" dirty="0"/>
              <a:t>del </a:t>
            </a:r>
            <a:r>
              <a:rPr lang="es-EC" b="1" dirty="0" err="1"/>
              <a:t>Pentesting</a:t>
            </a:r>
            <a:endParaRPr lang="es-EC" b="1" dirty="0"/>
          </a:p>
        </p:txBody>
      </p:sp>
      <p:sp>
        <p:nvSpPr>
          <p:cNvPr id="3" name="Marcador de contenido 2"/>
          <p:cNvSpPr>
            <a:spLocks noGrp="1"/>
          </p:cNvSpPr>
          <p:nvPr>
            <p:ph idx="1"/>
          </p:nvPr>
        </p:nvSpPr>
        <p:spPr/>
        <p:txBody>
          <a:bodyPr>
            <a:normAutofit/>
          </a:bodyPr>
          <a:lstStyle/>
          <a:p>
            <a:pPr algn="just"/>
            <a:r>
              <a:rPr lang="es-MX" sz="2000" b="1" dirty="0"/>
              <a:t>Reconocimiento.</a:t>
            </a:r>
            <a:r>
              <a:rPr lang="es-MX" sz="2000" dirty="0"/>
              <a:t> En este punto se recolectan datos y se identifica información clave.</a:t>
            </a:r>
          </a:p>
          <a:p>
            <a:pPr algn="just"/>
            <a:r>
              <a:rPr lang="es-MX" sz="2000" b="1" dirty="0"/>
              <a:t>Escaneo.</a:t>
            </a:r>
            <a:r>
              <a:rPr lang="es-MX" sz="2000" dirty="0"/>
              <a:t> En esta parte se hace un escaneo de puertos y un análisis de vulnerabilidades.</a:t>
            </a:r>
          </a:p>
          <a:p>
            <a:pPr algn="just"/>
            <a:r>
              <a:rPr lang="es-MX" sz="2000" b="1" dirty="0"/>
              <a:t>Explotación.</a:t>
            </a:r>
            <a:r>
              <a:rPr lang="es-MX" sz="2000" dirty="0"/>
              <a:t> En este punto accedemos a sistemas vulnerables, obtenemos privilegios e información clave.</a:t>
            </a:r>
          </a:p>
          <a:p>
            <a:pPr algn="just"/>
            <a:r>
              <a:rPr lang="es-MX" sz="2000" b="1" dirty="0"/>
              <a:t>Post-Explotación.</a:t>
            </a:r>
            <a:r>
              <a:rPr lang="es-MX" sz="2000" dirty="0"/>
              <a:t> En este punto se da mantenimiento a los accesos y/o se generan nuevos accesos</a:t>
            </a:r>
            <a:r>
              <a:rPr lang="es-MX" sz="2000" dirty="0" smtClean="0"/>
              <a:t>.</a:t>
            </a:r>
            <a:endParaRPr lang="es-MX" sz="2000" dirty="0"/>
          </a:p>
        </p:txBody>
      </p:sp>
    </p:spTree>
    <p:extLst>
      <p:ext uri="{BB962C8B-B14F-4D97-AF65-F5344CB8AC3E}">
        <p14:creationId xmlns:p14="http://schemas.microsoft.com/office/powerpoint/2010/main" val="1882205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a:t>Google </a:t>
            </a:r>
            <a:r>
              <a:rPr lang="es-EC" b="1" dirty="0" err="1"/>
              <a:t>Directives</a:t>
            </a:r>
            <a:r>
              <a:rPr lang="es-EC" b="1" dirty="0"/>
              <a:t> / Google </a:t>
            </a:r>
            <a:r>
              <a:rPr lang="es-EC" b="1" dirty="0" err="1"/>
              <a:t>Dorks</a:t>
            </a:r>
            <a:endParaRPr lang="es-EC" dirty="0"/>
          </a:p>
        </p:txBody>
      </p:sp>
      <p:sp>
        <p:nvSpPr>
          <p:cNvPr id="3" name="Marcador de contenido 2"/>
          <p:cNvSpPr>
            <a:spLocks noGrp="1"/>
          </p:cNvSpPr>
          <p:nvPr>
            <p:ph idx="1"/>
          </p:nvPr>
        </p:nvSpPr>
        <p:spPr/>
        <p:txBody>
          <a:bodyPr>
            <a:normAutofit/>
          </a:bodyPr>
          <a:lstStyle/>
          <a:p>
            <a:pPr algn="just"/>
            <a:r>
              <a:rPr lang="es-MX" sz="2000" b="1" dirty="0" err="1"/>
              <a:t>site</a:t>
            </a:r>
            <a:r>
              <a:rPr lang="es-MX" sz="2000" b="1" dirty="0"/>
              <a:t>:[</a:t>
            </a:r>
            <a:r>
              <a:rPr lang="es-MX" sz="2000" b="1" dirty="0" err="1"/>
              <a:t>nombre_de_la_página</a:t>
            </a:r>
            <a:r>
              <a:rPr lang="es-MX" sz="2000" b="1" dirty="0"/>
              <a:t>]</a:t>
            </a:r>
            <a:r>
              <a:rPr lang="es-MX" sz="2000" dirty="0"/>
              <a:t>: Nos permite hacer búsquedas en un dominio en particular. Todos los resultados dependen de </a:t>
            </a:r>
            <a:r>
              <a:rPr lang="es-MX" sz="2000" dirty="0" smtClean="0"/>
              <a:t>ese dominio</a:t>
            </a:r>
          </a:p>
          <a:p>
            <a:pPr algn="just"/>
            <a:r>
              <a:rPr lang="es-MX" sz="2000" b="1" dirty="0" err="1" smtClean="0"/>
              <a:t>intitle</a:t>
            </a:r>
            <a:r>
              <a:rPr lang="es-MX" sz="2000" dirty="0"/>
              <a:t>: Nos permite buscar palabras que se encuentren solamente en el </a:t>
            </a:r>
            <a:r>
              <a:rPr lang="es-MX" sz="2000" dirty="0" smtClean="0"/>
              <a:t>titulo</a:t>
            </a:r>
          </a:p>
          <a:p>
            <a:pPr algn="just"/>
            <a:r>
              <a:rPr lang="es-MX" sz="2000" b="1" dirty="0" err="1" smtClean="0"/>
              <a:t>inurl</a:t>
            </a:r>
            <a:r>
              <a:rPr lang="es-MX" sz="2000" dirty="0"/>
              <a:t>: Podemos encontrar cosas directamente en la </a:t>
            </a:r>
            <a:r>
              <a:rPr lang="es-MX" sz="2000" dirty="0" err="1" smtClean="0"/>
              <a:t>url</a:t>
            </a:r>
            <a:endParaRPr lang="es-MX" sz="2000" dirty="0" smtClean="0"/>
          </a:p>
          <a:p>
            <a:pPr algn="just"/>
            <a:r>
              <a:rPr lang="es-MX" sz="2000" b="1" dirty="0" smtClean="0"/>
              <a:t>cache</a:t>
            </a:r>
            <a:r>
              <a:rPr lang="es-MX" sz="2000" dirty="0"/>
              <a:t>: Buscamos en los archivos temporales de </a:t>
            </a:r>
            <a:r>
              <a:rPr lang="es-MX" sz="2000" dirty="0" err="1" smtClean="0"/>
              <a:t>google</a:t>
            </a:r>
            <a:endParaRPr lang="es-MX" sz="2000" dirty="0" smtClean="0"/>
          </a:p>
          <a:p>
            <a:pPr algn="just"/>
            <a:r>
              <a:rPr lang="es-MX" sz="2000" b="1" dirty="0" err="1" smtClean="0"/>
              <a:t>filetype</a:t>
            </a:r>
            <a:r>
              <a:rPr lang="es-MX" sz="2000" b="1" dirty="0"/>
              <a:t>:[extensión]</a:t>
            </a:r>
            <a:r>
              <a:rPr lang="es-MX" sz="2000" dirty="0"/>
              <a:t>: Muy útil para buscar un tipo de archivo en especifico</a:t>
            </a:r>
            <a:endParaRPr lang="es-EC" sz="2000" dirty="0"/>
          </a:p>
        </p:txBody>
      </p:sp>
    </p:spTree>
    <p:extLst>
      <p:ext uri="{BB962C8B-B14F-4D97-AF65-F5344CB8AC3E}">
        <p14:creationId xmlns:p14="http://schemas.microsoft.com/office/powerpoint/2010/main" val="3707532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a:t>Email </a:t>
            </a:r>
            <a:r>
              <a:rPr lang="es-EC" b="1" dirty="0" err="1"/>
              <a:t>Harvesting</a:t>
            </a:r>
            <a:endParaRPr lang="es-EC" dirty="0"/>
          </a:p>
        </p:txBody>
      </p:sp>
      <p:sp>
        <p:nvSpPr>
          <p:cNvPr id="3" name="Marcador de contenido 2"/>
          <p:cNvSpPr>
            <a:spLocks noGrp="1"/>
          </p:cNvSpPr>
          <p:nvPr>
            <p:ph idx="1"/>
          </p:nvPr>
        </p:nvSpPr>
        <p:spPr/>
        <p:txBody>
          <a:bodyPr>
            <a:normAutofit/>
          </a:bodyPr>
          <a:lstStyle/>
          <a:p>
            <a:pPr algn="just"/>
            <a:r>
              <a:rPr lang="es-MX" sz="2000" b="1" dirty="0" err="1"/>
              <a:t>Harvester</a:t>
            </a:r>
            <a:r>
              <a:rPr lang="es-MX" sz="2000" dirty="0"/>
              <a:t> es una script que fue diseñado para utilizar los motores de búsqueda comunes como recurso para buscar principalmente direcciones de correo electrónico, aunque también puede servir para buscar información relevante distinta a los correos electrónicos.</a:t>
            </a:r>
            <a:endParaRPr lang="es-EC" sz="2000" dirty="0"/>
          </a:p>
        </p:txBody>
      </p:sp>
      <p:pic>
        <p:nvPicPr>
          <p:cNvPr id="5122" name="Picture 2" descr="Resultado de imagen para email harvest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4398" y="4022411"/>
            <a:ext cx="2381250" cy="2343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8750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err="1"/>
              <a:t>Netcraft</a:t>
            </a:r>
            <a:endParaRPr lang="es-EC" dirty="0"/>
          </a:p>
        </p:txBody>
      </p:sp>
      <p:sp>
        <p:nvSpPr>
          <p:cNvPr id="3" name="Marcador de contenido 2"/>
          <p:cNvSpPr>
            <a:spLocks noGrp="1"/>
          </p:cNvSpPr>
          <p:nvPr>
            <p:ph idx="1"/>
          </p:nvPr>
        </p:nvSpPr>
        <p:spPr>
          <a:xfrm>
            <a:off x="2589212" y="1760113"/>
            <a:ext cx="8915400" cy="3777622"/>
          </a:xfrm>
        </p:spPr>
        <p:txBody>
          <a:bodyPr>
            <a:normAutofit/>
          </a:bodyPr>
          <a:lstStyle/>
          <a:p>
            <a:pPr marL="0" indent="0" algn="just">
              <a:buNone/>
            </a:pPr>
            <a:r>
              <a:rPr lang="es-MX" sz="2000" dirty="0" err="1"/>
              <a:t>Netcraft</a:t>
            </a:r>
            <a:r>
              <a:rPr lang="es-MX" sz="2000" dirty="0"/>
              <a:t> es una compañía que hace auditorías de seguridad.</a:t>
            </a:r>
            <a:br>
              <a:rPr lang="es-MX" sz="2000" dirty="0"/>
            </a:br>
            <a:r>
              <a:rPr lang="es-MX" sz="2000" dirty="0"/>
              <a:t>En este sitio la herramienta que vamos a utilizar es la que nos permite saber qué servicios o que aplicaciones está corriendo un sitio web en específico.</a:t>
            </a:r>
            <a:endParaRPr lang="es-EC" sz="2000" dirty="0"/>
          </a:p>
        </p:txBody>
      </p:sp>
      <p:pic>
        <p:nvPicPr>
          <p:cNvPr id="6146" name="Picture 2" descr="Resultado de imagen para netcraf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3625" y="3230228"/>
            <a:ext cx="7041669" cy="3443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8304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a:t>Whois</a:t>
            </a:r>
            <a:endParaRPr lang="es-EC" dirty="0"/>
          </a:p>
        </p:txBody>
      </p:sp>
      <p:sp>
        <p:nvSpPr>
          <p:cNvPr id="3" name="Marcador de contenido 2"/>
          <p:cNvSpPr>
            <a:spLocks noGrp="1"/>
          </p:cNvSpPr>
          <p:nvPr>
            <p:ph idx="1"/>
          </p:nvPr>
        </p:nvSpPr>
        <p:spPr>
          <a:xfrm>
            <a:off x="2589212" y="2983606"/>
            <a:ext cx="8915400" cy="3455831"/>
          </a:xfrm>
        </p:spPr>
        <p:txBody>
          <a:bodyPr>
            <a:normAutofit/>
          </a:bodyPr>
          <a:lstStyle/>
          <a:p>
            <a:pPr algn="just"/>
            <a:r>
              <a:rPr lang="es-MX" sz="2000" b="1" dirty="0"/>
              <a:t>Whois</a:t>
            </a:r>
            <a:r>
              <a:rPr lang="es-MX" sz="2000" dirty="0"/>
              <a:t> está relacionado con los nombres de dominio y con los servidores DNS. Es un comando que nos permite consultar en los servidores DNS que hay disponibles para identificar la información de registro dentro de una base de datos de dominios en particular.</a:t>
            </a:r>
          </a:p>
          <a:p>
            <a:pPr algn="just"/>
            <a:r>
              <a:rPr lang="es-MX" sz="2000" b="1" dirty="0"/>
              <a:t>Nombre de dominio =</a:t>
            </a:r>
            <a:r>
              <a:rPr lang="es-MX" sz="2000" dirty="0"/>
              <a:t> Nombre que identifica un servidor o un servicio a través de la web.</a:t>
            </a:r>
          </a:p>
          <a:p>
            <a:pPr algn="just"/>
            <a:r>
              <a:rPr lang="es-MX" sz="2000" b="1" dirty="0"/>
              <a:t>Servidores DNS =</a:t>
            </a:r>
            <a:r>
              <a:rPr lang="es-MX" sz="2000" dirty="0"/>
              <a:t> Nos permiten registrar un nombre de dominio, una palabra que sea fácil de recordar en lugar de tener que utilizar toda una dirección IP cada vez que queramos acceder a un sitio.</a:t>
            </a:r>
          </a:p>
          <a:p>
            <a:pPr algn="just"/>
            <a:endParaRPr lang="es-EC" sz="2000" dirty="0"/>
          </a:p>
        </p:txBody>
      </p:sp>
      <p:pic>
        <p:nvPicPr>
          <p:cNvPr id="7170" name="Picture 2" descr="Resultado de imagen para whois"/>
          <p:cNvPicPr>
            <a:picLocks noChangeAspect="1" noChangeArrowheads="1"/>
          </p:cNvPicPr>
          <p:nvPr/>
        </p:nvPicPr>
        <p:blipFill rotWithShape="1">
          <a:blip r:embed="rId2">
            <a:extLst>
              <a:ext uri="{28A0092B-C50C-407E-A947-70E740481C1C}">
                <a14:useLocalDpi xmlns:a14="http://schemas.microsoft.com/office/drawing/2010/main" val="0"/>
              </a:ext>
            </a:extLst>
          </a:blip>
          <a:srcRect t="19333" b="21288"/>
          <a:stretch/>
        </p:blipFill>
        <p:spPr bwMode="auto">
          <a:xfrm>
            <a:off x="4727576" y="782928"/>
            <a:ext cx="5329310" cy="1661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9882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a:t>Zonas de transferencia y </a:t>
            </a:r>
            <a:r>
              <a:rPr lang="es-EC" b="1" dirty="0" err="1"/>
              <a:t>brute-force</a:t>
            </a:r>
            <a:r>
              <a:rPr lang="es-EC" b="1" dirty="0"/>
              <a:t> a DNS</a:t>
            </a:r>
            <a:endParaRPr lang="es-EC" dirty="0"/>
          </a:p>
        </p:txBody>
      </p:sp>
      <p:sp>
        <p:nvSpPr>
          <p:cNvPr id="3" name="Marcador de contenido 2"/>
          <p:cNvSpPr>
            <a:spLocks noGrp="1"/>
          </p:cNvSpPr>
          <p:nvPr>
            <p:ph idx="1"/>
          </p:nvPr>
        </p:nvSpPr>
        <p:spPr>
          <a:xfrm>
            <a:off x="2589212" y="2301026"/>
            <a:ext cx="8915400" cy="3777622"/>
          </a:xfrm>
        </p:spPr>
        <p:txBody>
          <a:bodyPr>
            <a:normAutofit/>
          </a:bodyPr>
          <a:lstStyle/>
          <a:p>
            <a:pPr algn="just"/>
            <a:r>
              <a:rPr lang="es-MX" sz="2000" b="1" dirty="0"/>
              <a:t>Comando host =</a:t>
            </a:r>
            <a:r>
              <a:rPr lang="es-MX" sz="2000" dirty="0"/>
              <a:t> Es un comando que hace un </a:t>
            </a:r>
            <a:r>
              <a:rPr lang="es-MX" sz="2000" dirty="0" err="1"/>
              <a:t>request</a:t>
            </a:r>
            <a:r>
              <a:rPr lang="es-MX" sz="2000" dirty="0"/>
              <a:t> de DNS básico para obtener una IP, similar al </a:t>
            </a:r>
            <a:r>
              <a:rPr lang="es-MX" sz="2000" dirty="0" err="1"/>
              <a:t>request</a:t>
            </a:r>
            <a:r>
              <a:rPr lang="es-MX" sz="2000" dirty="0"/>
              <a:t> de cuando escribimos en el navegador el nombre de un sitio web, por ejemplo, </a:t>
            </a:r>
            <a:r>
              <a:rPr lang="es-MX" sz="2000" u="sng" dirty="0"/>
              <a:t>www.platzi.com</a:t>
            </a:r>
          </a:p>
          <a:p>
            <a:pPr algn="just"/>
            <a:r>
              <a:rPr lang="es-MX" sz="2000" dirty="0"/>
              <a:t>**Para tomar en cuenta: **</a:t>
            </a:r>
            <a:br>
              <a:rPr lang="es-MX" sz="2000" dirty="0"/>
            </a:br>
            <a:r>
              <a:rPr lang="es-MX" sz="2000" dirty="0"/>
              <a:t>Muchas veces un solo nombre de dominio puede estar asociado a varias direcciones IP o a varios servidores, esto se hace sobretodo cuando son servidores que demandan mucho tráfico para tener varios servidores disponibles para el mismo servicio.</a:t>
            </a:r>
          </a:p>
          <a:p>
            <a:pPr algn="just"/>
            <a:r>
              <a:rPr lang="es-MX" sz="2000" b="1" dirty="0"/>
              <a:t>Comando </a:t>
            </a:r>
            <a:r>
              <a:rPr lang="es-MX" sz="2000" b="1" dirty="0" err="1"/>
              <a:t>dnsenum</a:t>
            </a:r>
            <a:r>
              <a:rPr lang="es-MX" sz="2000" b="1" dirty="0"/>
              <a:t> =</a:t>
            </a:r>
            <a:r>
              <a:rPr lang="es-MX" sz="2000" dirty="0"/>
              <a:t> Alista todos los subdominios que estén asociados a un dominio.</a:t>
            </a:r>
          </a:p>
          <a:p>
            <a:pPr algn="just"/>
            <a:endParaRPr lang="es-EC" sz="2000" dirty="0"/>
          </a:p>
        </p:txBody>
      </p:sp>
    </p:spTree>
    <p:extLst>
      <p:ext uri="{BB962C8B-B14F-4D97-AF65-F5344CB8AC3E}">
        <p14:creationId xmlns:p14="http://schemas.microsoft.com/office/powerpoint/2010/main" val="489711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a:t>¿Cómo funciona DNS?</a:t>
            </a:r>
            <a:endParaRPr lang="es-EC" dirty="0"/>
          </a:p>
        </p:txBody>
      </p:sp>
      <p:sp>
        <p:nvSpPr>
          <p:cNvPr id="3" name="Marcador de contenido 2"/>
          <p:cNvSpPr>
            <a:spLocks noGrp="1"/>
          </p:cNvSpPr>
          <p:nvPr>
            <p:ph idx="1"/>
          </p:nvPr>
        </p:nvSpPr>
        <p:spPr>
          <a:xfrm>
            <a:off x="2589212" y="1905000"/>
            <a:ext cx="8915400" cy="4006222"/>
          </a:xfrm>
        </p:spPr>
        <p:txBody>
          <a:bodyPr>
            <a:normAutofit/>
          </a:bodyPr>
          <a:lstStyle/>
          <a:p>
            <a:pPr marL="0" indent="0" algn="just">
              <a:buNone/>
            </a:pPr>
            <a:r>
              <a:rPr lang="es-MX" sz="2000" dirty="0"/>
              <a:t>DNS es una red de servidores que está expandida por todo el planeta. Cuando nosotros estamos conectados a internet, estamos conectados a un DNS que nos proporciona el proveedor de servicio de internet que tengamos, al cual hacemos el </a:t>
            </a:r>
            <a:r>
              <a:rPr lang="es-MX" sz="2000" dirty="0" err="1"/>
              <a:t>request</a:t>
            </a:r>
            <a:r>
              <a:rPr lang="es-MX" sz="2000" dirty="0"/>
              <a:t> para que con un dominio, nos muestre su ubicación.</a:t>
            </a:r>
            <a:endParaRPr lang="es-EC" sz="2000" dirty="0"/>
          </a:p>
        </p:txBody>
      </p:sp>
      <p:pic>
        <p:nvPicPr>
          <p:cNvPr id="8194" name="Picture 2" descr="Resultado de imagen para d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6815" y="4022411"/>
            <a:ext cx="4572000" cy="2219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077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err="1"/>
              <a:t>HTTrack</a:t>
            </a:r>
            <a:endParaRPr lang="es-EC" dirty="0"/>
          </a:p>
        </p:txBody>
      </p:sp>
      <p:sp>
        <p:nvSpPr>
          <p:cNvPr id="3" name="Marcador de contenido 2"/>
          <p:cNvSpPr>
            <a:spLocks noGrp="1"/>
          </p:cNvSpPr>
          <p:nvPr>
            <p:ph idx="1"/>
          </p:nvPr>
        </p:nvSpPr>
        <p:spPr>
          <a:xfrm>
            <a:off x="2589212" y="1708597"/>
            <a:ext cx="8915400" cy="3777622"/>
          </a:xfrm>
        </p:spPr>
        <p:txBody>
          <a:bodyPr>
            <a:normAutofit/>
          </a:bodyPr>
          <a:lstStyle/>
          <a:p>
            <a:pPr marL="0" indent="0" algn="just">
              <a:buNone/>
            </a:pPr>
            <a:r>
              <a:rPr lang="es-MX" sz="2000" dirty="0" err="1"/>
              <a:t>HTTrack</a:t>
            </a:r>
            <a:r>
              <a:rPr lang="es-MX" sz="2000" dirty="0"/>
              <a:t> </a:t>
            </a:r>
            <a:r>
              <a:rPr lang="es-MX" sz="2000" dirty="0" smtClean="0"/>
              <a:t>es </a:t>
            </a:r>
            <a:r>
              <a:rPr lang="es-MX" sz="2000" dirty="0"/>
              <a:t>una herramienta que se utiliza para clonar sitios web. Esto lo hace de tal modo que no se tiene que recurrir al servidor del sitio original en ningún momento.</a:t>
            </a:r>
            <a:endParaRPr lang="es-EC" sz="2000" dirty="0"/>
          </a:p>
        </p:txBody>
      </p:sp>
      <p:pic>
        <p:nvPicPr>
          <p:cNvPr id="9218" name="Picture 2" descr="Imagen relacionad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5238" y="2989487"/>
            <a:ext cx="4168587" cy="3393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6713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a:t>F</a:t>
            </a:r>
            <a:r>
              <a:rPr lang="es-EC" b="1" dirty="0" smtClean="0"/>
              <a:t>ase </a:t>
            </a:r>
            <a:r>
              <a:rPr lang="es-EC" b="1" dirty="0"/>
              <a:t>de escaneo</a:t>
            </a:r>
            <a:endParaRPr lang="es-EC" dirty="0"/>
          </a:p>
        </p:txBody>
      </p:sp>
      <p:sp>
        <p:nvSpPr>
          <p:cNvPr id="3" name="Marcador de contenido 2"/>
          <p:cNvSpPr>
            <a:spLocks noGrp="1"/>
          </p:cNvSpPr>
          <p:nvPr>
            <p:ph idx="1"/>
          </p:nvPr>
        </p:nvSpPr>
        <p:spPr>
          <a:xfrm>
            <a:off x="2589212" y="1695718"/>
            <a:ext cx="8915400" cy="3777622"/>
          </a:xfrm>
        </p:spPr>
        <p:txBody>
          <a:bodyPr/>
          <a:lstStyle/>
          <a:p>
            <a:pPr algn="just"/>
            <a:r>
              <a:rPr lang="es-MX" dirty="0"/>
              <a:t>Determinar si un sistema está encendido.</a:t>
            </a:r>
          </a:p>
          <a:p>
            <a:pPr algn="just"/>
            <a:r>
              <a:rPr lang="es-MX" dirty="0"/>
              <a:t>Hacer escaneo de puertos.</a:t>
            </a:r>
          </a:p>
          <a:p>
            <a:pPr algn="just"/>
            <a:r>
              <a:rPr lang="es-MX" dirty="0"/>
              <a:t>Obtener información de servicios.</a:t>
            </a:r>
          </a:p>
          <a:p>
            <a:pPr algn="just"/>
            <a:r>
              <a:rPr lang="es-MX" dirty="0"/>
              <a:t>Escanear vulnerabilidades.</a:t>
            </a:r>
          </a:p>
          <a:p>
            <a:pPr algn="just"/>
            <a:endParaRPr lang="es-EC" dirty="0"/>
          </a:p>
        </p:txBody>
      </p:sp>
      <p:pic>
        <p:nvPicPr>
          <p:cNvPr id="10242" name="Picture 2" descr="Resultado de imagen para fases de escane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16207" y="3697499"/>
            <a:ext cx="5060369" cy="28474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09698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a:t>UDP</a:t>
            </a:r>
            <a:endParaRPr lang="es-EC" dirty="0"/>
          </a:p>
        </p:txBody>
      </p:sp>
      <p:sp>
        <p:nvSpPr>
          <p:cNvPr id="3" name="Marcador de contenido 2"/>
          <p:cNvSpPr>
            <a:spLocks noGrp="1"/>
          </p:cNvSpPr>
          <p:nvPr>
            <p:ph idx="1"/>
          </p:nvPr>
        </p:nvSpPr>
        <p:spPr/>
        <p:txBody>
          <a:bodyPr/>
          <a:lstStyle/>
          <a:p>
            <a:pPr algn="just"/>
            <a:r>
              <a:rPr lang="es-EC" b="1" dirty="0"/>
              <a:t>UDP =</a:t>
            </a:r>
            <a:r>
              <a:rPr lang="es-EC" dirty="0"/>
              <a:t> </a:t>
            </a:r>
            <a:r>
              <a:rPr lang="es-EC" dirty="0" err="1"/>
              <a:t>User</a:t>
            </a:r>
            <a:r>
              <a:rPr lang="es-EC" dirty="0"/>
              <a:t> Data </a:t>
            </a:r>
            <a:r>
              <a:rPr lang="es-EC" dirty="0" err="1"/>
              <a:t>Protocol</a:t>
            </a:r>
            <a:r>
              <a:rPr lang="es-EC" dirty="0"/>
              <a:t> (Protocolo de Datagrama de Usuario)</a:t>
            </a:r>
            <a:br>
              <a:rPr lang="es-EC" dirty="0"/>
            </a:br>
            <a:r>
              <a:rPr lang="es-EC" dirty="0"/>
              <a:t>Envía y recibe de manera directa datagramas a través de una IP.</a:t>
            </a:r>
          </a:p>
        </p:txBody>
      </p:sp>
      <p:pic>
        <p:nvPicPr>
          <p:cNvPr id="1028" name="Picture 4" descr="tcp.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061" y="3450535"/>
            <a:ext cx="6627450" cy="2460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70283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err="1"/>
              <a:t>Nmap</a:t>
            </a:r>
            <a:r>
              <a:rPr lang="es-EC" b="1" dirty="0"/>
              <a:t> Scripting </a:t>
            </a:r>
            <a:r>
              <a:rPr lang="es-EC" b="1" dirty="0" err="1"/>
              <a:t>Engine</a:t>
            </a:r>
            <a:endParaRPr lang="es-EC" dirty="0"/>
          </a:p>
        </p:txBody>
      </p:sp>
      <p:sp>
        <p:nvSpPr>
          <p:cNvPr id="3" name="Marcador de contenido 2"/>
          <p:cNvSpPr>
            <a:spLocks noGrp="1"/>
          </p:cNvSpPr>
          <p:nvPr>
            <p:ph idx="1"/>
          </p:nvPr>
        </p:nvSpPr>
        <p:spPr>
          <a:xfrm>
            <a:off x="2189967" y="1676679"/>
            <a:ext cx="8915400" cy="3777622"/>
          </a:xfrm>
        </p:spPr>
        <p:txBody>
          <a:bodyPr>
            <a:noAutofit/>
          </a:bodyPr>
          <a:lstStyle/>
          <a:p>
            <a:pPr marL="0" indent="0" algn="just">
              <a:buNone/>
            </a:pPr>
            <a:r>
              <a:rPr lang="es-MX" dirty="0" err="1" smtClean="0"/>
              <a:t>Nmap</a:t>
            </a:r>
            <a:r>
              <a:rPr lang="es-MX" dirty="0" smtClean="0"/>
              <a:t> es </a:t>
            </a:r>
            <a:r>
              <a:rPr lang="es-MX" dirty="0"/>
              <a:t>una herramienta muy poderosa que nos permite hacer identificación de información de la red. Mapear y reconocer toda la información que tenemos en nuestra red o en un segmento de red</a:t>
            </a:r>
            <a:r>
              <a:rPr lang="es-MX" dirty="0" smtClean="0"/>
              <a:t>.</a:t>
            </a:r>
          </a:p>
          <a:p>
            <a:pPr algn="just"/>
            <a:endParaRPr lang="es-MX" dirty="0"/>
          </a:p>
          <a:p>
            <a:pPr algn="just"/>
            <a:r>
              <a:rPr lang="es-MX" dirty="0" err="1"/>
              <a:t>Auth</a:t>
            </a:r>
            <a:r>
              <a:rPr lang="es-MX" dirty="0"/>
              <a:t>: ejecuta todos sus scripts disponibles para </a:t>
            </a:r>
            <a:r>
              <a:rPr lang="es-MX" dirty="0" smtClean="0"/>
              <a:t>autenticación</a:t>
            </a:r>
            <a:endParaRPr lang="es-MX" dirty="0"/>
          </a:p>
          <a:p>
            <a:pPr algn="just"/>
            <a:r>
              <a:rPr lang="es-MX" dirty="0"/>
              <a:t>Default: ejecuta los scripts básicos por defecto de la herramienta</a:t>
            </a:r>
          </a:p>
          <a:p>
            <a:pPr algn="just"/>
            <a:r>
              <a:rPr lang="es-MX" dirty="0"/>
              <a:t>Discovery: recupera información del target o víctima</a:t>
            </a:r>
          </a:p>
          <a:p>
            <a:pPr algn="just"/>
            <a:r>
              <a:rPr lang="es-MX" dirty="0" err="1"/>
              <a:t>External</a:t>
            </a:r>
            <a:r>
              <a:rPr lang="es-MX" dirty="0"/>
              <a:t>: script para utilizar recursos externos</a:t>
            </a:r>
          </a:p>
          <a:p>
            <a:pPr algn="just"/>
            <a:r>
              <a:rPr lang="es-MX" dirty="0" err="1"/>
              <a:t>Intrusive</a:t>
            </a:r>
            <a:r>
              <a:rPr lang="es-MX" dirty="0"/>
              <a:t>: utiliza scripts que son considerados intrusivos para la víctima o target</a:t>
            </a:r>
          </a:p>
          <a:p>
            <a:pPr algn="just"/>
            <a:r>
              <a:rPr lang="es-MX" dirty="0" err="1"/>
              <a:t>Safe</a:t>
            </a:r>
            <a:r>
              <a:rPr lang="es-MX" dirty="0"/>
              <a:t>: ejecuta scripts que no son intrusivos</a:t>
            </a:r>
          </a:p>
          <a:p>
            <a:pPr algn="just"/>
            <a:r>
              <a:rPr lang="es-MX" dirty="0" err="1"/>
              <a:t>Vuln</a:t>
            </a:r>
            <a:r>
              <a:rPr lang="es-MX" dirty="0"/>
              <a:t>: descubre las vulnerabilidades más conocidas</a:t>
            </a:r>
          </a:p>
          <a:p>
            <a:pPr algn="just"/>
            <a:r>
              <a:rPr lang="es-MX" dirty="0" err="1"/>
              <a:t>All</a:t>
            </a:r>
            <a:r>
              <a:rPr lang="es-MX" dirty="0"/>
              <a:t>: ejecuta absolutamente todos los scripts con extensión NSE disponibles</a:t>
            </a:r>
          </a:p>
          <a:p>
            <a:pPr algn="just"/>
            <a:endParaRPr lang="es-EC" dirty="0"/>
          </a:p>
        </p:txBody>
      </p:sp>
    </p:spTree>
    <p:extLst>
      <p:ext uri="{BB962C8B-B14F-4D97-AF65-F5344CB8AC3E}">
        <p14:creationId xmlns:p14="http://schemas.microsoft.com/office/powerpoint/2010/main" val="3749235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err="1" smtClean="0"/>
              <a:t>Metasploit</a:t>
            </a:r>
            <a:endParaRPr lang="es-EC" dirty="0"/>
          </a:p>
        </p:txBody>
      </p:sp>
      <p:sp>
        <p:nvSpPr>
          <p:cNvPr id="3" name="Marcador de contenido 2"/>
          <p:cNvSpPr>
            <a:spLocks noGrp="1"/>
          </p:cNvSpPr>
          <p:nvPr>
            <p:ph idx="1"/>
          </p:nvPr>
        </p:nvSpPr>
        <p:spPr>
          <a:xfrm>
            <a:off x="2151329" y="1541171"/>
            <a:ext cx="3412343" cy="4666445"/>
          </a:xfrm>
        </p:spPr>
        <p:txBody>
          <a:bodyPr>
            <a:normAutofit/>
          </a:bodyPr>
          <a:lstStyle/>
          <a:p>
            <a:pPr algn="just"/>
            <a:r>
              <a:rPr lang="es-MX" sz="2000" b="1" dirty="0" smtClean="0"/>
              <a:t>Core</a:t>
            </a:r>
            <a:r>
              <a:rPr lang="es-MX" sz="2000" b="1" dirty="0"/>
              <a:t>: </a:t>
            </a:r>
            <a:r>
              <a:rPr lang="es-MX" sz="2000" dirty="0"/>
              <a:t>Es la API </a:t>
            </a:r>
            <a:r>
              <a:rPr lang="es-MX" sz="2000" dirty="0" smtClean="0"/>
              <a:t>básica, </a:t>
            </a:r>
            <a:r>
              <a:rPr lang="es-MX" sz="2000" dirty="0"/>
              <a:t>donde esta la </a:t>
            </a:r>
            <a:r>
              <a:rPr lang="es-MX" sz="2000" dirty="0" smtClean="0"/>
              <a:t>definición </a:t>
            </a:r>
            <a:r>
              <a:rPr lang="es-MX" sz="2000" dirty="0"/>
              <a:t>del </a:t>
            </a:r>
            <a:r>
              <a:rPr lang="es-MX" sz="2000" dirty="0" err="1"/>
              <a:t>framework</a:t>
            </a:r>
            <a:r>
              <a:rPr lang="es-MX" sz="2000" dirty="0"/>
              <a:t>. Se realiza la </a:t>
            </a:r>
            <a:r>
              <a:rPr lang="es-MX" sz="2000" dirty="0" smtClean="0"/>
              <a:t>sincronización </a:t>
            </a:r>
            <a:r>
              <a:rPr lang="es-MX" sz="2000" dirty="0"/>
              <a:t>de todos los </a:t>
            </a:r>
            <a:r>
              <a:rPr lang="es-MX" sz="2000" dirty="0" smtClean="0"/>
              <a:t>módulos.</a:t>
            </a:r>
            <a:endParaRPr lang="es-MX" sz="2000" dirty="0"/>
          </a:p>
          <a:p>
            <a:pPr algn="just"/>
            <a:r>
              <a:rPr lang="es-MX" sz="2000" b="1" dirty="0"/>
              <a:t>Base: </a:t>
            </a:r>
            <a:r>
              <a:rPr lang="es-MX" sz="2000" dirty="0" err="1"/>
              <a:t>Friendly</a:t>
            </a:r>
            <a:r>
              <a:rPr lang="es-MX" sz="2000" dirty="0"/>
              <a:t> API, proporciona recurso a los módulos que se conectan.</a:t>
            </a:r>
          </a:p>
          <a:p>
            <a:pPr algn="just"/>
            <a:r>
              <a:rPr lang="es-MX" sz="2000" b="1" dirty="0"/>
              <a:t>REX: </a:t>
            </a:r>
            <a:r>
              <a:rPr lang="es-MX" sz="2000" dirty="0"/>
              <a:t>Realiza la mayor cantidad de operaciones, maneja sockets, protocolos.</a:t>
            </a:r>
          </a:p>
          <a:p>
            <a:endParaRPr lang="es-EC" sz="2000" dirty="0"/>
          </a:p>
        </p:txBody>
      </p:sp>
      <p:pic>
        <p:nvPicPr>
          <p:cNvPr id="11266" name="Picture 2" descr="Resultado de imagen para metasploi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43905" y="2137244"/>
            <a:ext cx="5949303" cy="3474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8752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589212" y="1120462"/>
            <a:ext cx="8915400" cy="4790760"/>
          </a:xfrm>
        </p:spPr>
        <p:txBody>
          <a:bodyPr>
            <a:normAutofit/>
          </a:bodyPr>
          <a:lstStyle/>
          <a:p>
            <a:pPr marL="0" indent="0" algn="just">
              <a:buNone/>
            </a:pPr>
            <a:r>
              <a:rPr lang="es-EC" sz="2000" b="1" dirty="0" smtClean="0"/>
              <a:t>Módulos</a:t>
            </a:r>
          </a:p>
          <a:p>
            <a:pPr marL="0" indent="0" algn="just">
              <a:buNone/>
            </a:pPr>
            <a:endParaRPr lang="es-EC" sz="2000" dirty="0" smtClean="0"/>
          </a:p>
          <a:p>
            <a:pPr algn="just"/>
            <a:r>
              <a:rPr lang="es-MX" sz="2000" b="1" dirty="0" err="1"/>
              <a:t>Exploit</a:t>
            </a:r>
            <a:r>
              <a:rPr lang="es-MX" sz="2000" b="1" dirty="0"/>
              <a:t>: </a:t>
            </a:r>
            <a:r>
              <a:rPr lang="es-MX" sz="2000" dirty="0"/>
              <a:t>Cada parte de código que aprovecha las vulnerabilidades que existen.</a:t>
            </a:r>
          </a:p>
          <a:p>
            <a:pPr algn="just"/>
            <a:r>
              <a:rPr lang="es-MX" sz="2000" b="1" dirty="0" err="1"/>
              <a:t>Payload</a:t>
            </a:r>
            <a:r>
              <a:rPr lang="es-MX" sz="2000" b="1" dirty="0"/>
              <a:t>: </a:t>
            </a:r>
            <a:r>
              <a:rPr lang="es-MX" sz="2000" dirty="0"/>
              <a:t>Es la carga o contenido que se envía dentro del ataque que hacemos.</a:t>
            </a:r>
          </a:p>
          <a:p>
            <a:pPr algn="just"/>
            <a:r>
              <a:rPr lang="es-MX" sz="2000" b="1" dirty="0" err="1"/>
              <a:t>Encoder</a:t>
            </a:r>
            <a:r>
              <a:rPr lang="es-MX" sz="2000" b="1" dirty="0"/>
              <a:t>: </a:t>
            </a:r>
            <a:r>
              <a:rPr lang="es-MX" sz="2000" dirty="0"/>
              <a:t>Nos permite ofuscar o cubrir el código que estamos enviado para que no se detectado por los antivirus</a:t>
            </a:r>
          </a:p>
          <a:p>
            <a:pPr algn="just"/>
            <a:r>
              <a:rPr lang="es-MX" sz="2000" b="1" dirty="0"/>
              <a:t>NOP: </a:t>
            </a:r>
            <a:r>
              <a:rPr lang="es-MX" sz="2000" dirty="0"/>
              <a:t>Inserta ceros en la carga del </a:t>
            </a:r>
            <a:r>
              <a:rPr lang="es-MX" sz="2000" dirty="0" err="1"/>
              <a:t>payload</a:t>
            </a:r>
            <a:r>
              <a:rPr lang="es-MX" sz="2000" dirty="0"/>
              <a:t>.</a:t>
            </a:r>
          </a:p>
          <a:p>
            <a:pPr algn="just"/>
            <a:r>
              <a:rPr lang="es-MX" sz="2000" b="1" dirty="0" err="1"/>
              <a:t>Auxiliary</a:t>
            </a:r>
            <a:r>
              <a:rPr lang="es-MX" sz="2000" b="1" dirty="0"/>
              <a:t>: </a:t>
            </a:r>
            <a:r>
              <a:rPr lang="es-MX" sz="2000" dirty="0"/>
              <a:t>Son los que nos permiten utilizar otras herramientas, pero que no son necesariamente </a:t>
            </a:r>
            <a:r>
              <a:rPr lang="es-MX" sz="2000" dirty="0" err="1"/>
              <a:t>exploit</a:t>
            </a:r>
            <a:r>
              <a:rPr lang="es-MX" sz="2000" dirty="0"/>
              <a:t> o </a:t>
            </a:r>
            <a:r>
              <a:rPr lang="es-MX" sz="2000" dirty="0" err="1"/>
              <a:t>payload</a:t>
            </a:r>
            <a:r>
              <a:rPr lang="es-MX" sz="2000" dirty="0"/>
              <a:t>.</a:t>
            </a:r>
          </a:p>
          <a:p>
            <a:pPr algn="just"/>
            <a:endParaRPr lang="es-EC" sz="2000" dirty="0"/>
          </a:p>
        </p:txBody>
      </p:sp>
    </p:spTree>
    <p:extLst>
      <p:ext uri="{BB962C8B-B14F-4D97-AF65-F5344CB8AC3E}">
        <p14:creationId xmlns:p14="http://schemas.microsoft.com/office/powerpoint/2010/main" val="37762118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err="1"/>
              <a:t>Armitage</a:t>
            </a:r>
            <a:endParaRPr lang="es-EC" dirty="0"/>
          </a:p>
        </p:txBody>
      </p:sp>
      <p:sp>
        <p:nvSpPr>
          <p:cNvPr id="3" name="Marcador de contenido 2"/>
          <p:cNvSpPr>
            <a:spLocks noGrp="1"/>
          </p:cNvSpPr>
          <p:nvPr>
            <p:ph idx="1"/>
          </p:nvPr>
        </p:nvSpPr>
        <p:spPr>
          <a:xfrm>
            <a:off x="8981997" y="2128503"/>
            <a:ext cx="2321975" cy="3726287"/>
          </a:xfrm>
        </p:spPr>
        <p:txBody>
          <a:bodyPr>
            <a:normAutofit/>
          </a:bodyPr>
          <a:lstStyle/>
          <a:p>
            <a:pPr marL="0" indent="0" algn="just">
              <a:buNone/>
            </a:pPr>
            <a:r>
              <a:rPr lang="es-MX" sz="2000" dirty="0" smtClean="0"/>
              <a:t>Interface gráfica </a:t>
            </a:r>
            <a:r>
              <a:rPr lang="es-MX" sz="2000" dirty="0"/>
              <a:t>para trabajar con </a:t>
            </a:r>
            <a:r>
              <a:rPr lang="es-MX" sz="2000" dirty="0" err="1"/>
              <a:t>Metasploit</a:t>
            </a:r>
            <a:r>
              <a:rPr lang="es-MX" sz="2000" dirty="0"/>
              <a:t>, puede trabajar con todos los </a:t>
            </a:r>
            <a:r>
              <a:rPr lang="es-MX" sz="2000" dirty="0" err="1"/>
              <a:t>payloads</a:t>
            </a:r>
            <a:r>
              <a:rPr lang="es-MX" sz="2000" dirty="0"/>
              <a:t>, es un ataque bastante robusto y ruidoso.</a:t>
            </a:r>
            <a:endParaRPr lang="es-EC" sz="2000" dirty="0"/>
          </a:p>
        </p:txBody>
      </p:sp>
      <p:pic>
        <p:nvPicPr>
          <p:cNvPr id="12290" name="Picture 2" descr="Resultado de imagen para armit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9380" y="1621130"/>
            <a:ext cx="5626924" cy="47410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84905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smtClean="0"/>
              <a:t>Medusa</a:t>
            </a:r>
            <a:endParaRPr lang="es-EC" b="1" dirty="0"/>
          </a:p>
        </p:txBody>
      </p:sp>
      <p:sp>
        <p:nvSpPr>
          <p:cNvPr id="3" name="Marcador de contenido 2"/>
          <p:cNvSpPr>
            <a:spLocks noGrp="1"/>
          </p:cNvSpPr>
          <p:nvPr>
            <p:ph idx="1"/>
          </p:nvPr>
        </p:nvSpPr>
        <p:spPr>
          <a:xfrm>
            <a:off x="2589212" y="1566930"/>
            <a:ext cx="8915400" cy="3777622"/>
          </a:xfrm>
        </p:spPr>
        <p:txBody>
          <a:bodyPr>
            <a:normAutofit/>
          </a:bodyPr>
          <a:lstStyle/>
          <a:p>
            <a:pPr marL="0" indent="0" algn="just">
              <a:buNone/>
            </a:pPr>
            <a:r>
              <a:rPr lang="es-MX" sz="2000" dirty="0"/>
              <a:t>Medusa es una herramienta que sirve para hacer ataques a contraseñas </a:t>
            </a:r>
            <a:r>
              <a:rPr lang="es-MX" sz="2000" dirty="0" smtClean="0"/>
              <a:t>a partir </a:t>
            </a:r>
            <a:r>
              <a:rPr lang="es-MX" sz="2000" dirty="0"/>
              <a:t>de diccionario y </a:t>
            </a:r>
            <a:r>
              <a:rPr lang="es-MX" sz="2000" dirty="0" smtClean="0"/>
              <a:t>combinación </a:t>
            </a:r>
            <a:r>
              <a:rPr lang="es-MX" sz="2000" dirty="0"/>
              <a:t>de fuerza bruta</a:t>
            </a:r>
            <a:r>
              <a:rPr lang="es-MX" sz="2000" dirty="0" smtClean="0"/>
              <a:t>.</a:t>
            </a:r>
          </a:p>
        </p:txBody>
      </p:sp>
      <p:pic>
        <p:nvPicPr>
          <p:cNvPr id="1028" name="Picture 4" descr="Resultado de imagen para medusa pro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4540" y="2576326"/>
            <a:ext cx="5485370" cy="38892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17515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576333" y="759854"/>
            <a:ext cx="8915400" cy="4906670"/>
          </a:xfrm>
        </p:spPr>
        <p:txBody>
          <a:bodyPr>
            <a:noAutofit/>
          </a:bodyPr>
          <a:lstStyle/>
          <a:p>
            <a:pPr marL="0" indent="0">
              <a:buNone/>
            </a:pPr>
            <a:r>
              <a:rPr lang="es-MX" sz="2000" b="1" dirty="0" smtClean="0"/>
              <a:t>Parámetros</a:t>
            </a:r>
          </a:p>
          <a:p>
            <a:pPr algn="just"/>
            <a:r>
              <a:rPr lang="es-EC" sz="2000" dirty="0"/>
              <a:t>/</a:t>
            </a:r>
            <a:r>
              <a:rPr lang="es-EC" sz="2000" dirty="0" err="1"/>
              <a:t>usr</a:t>
            </a:r>
            <a:r>
              <a:rPr lang="es-EC" sz="2000" dirty="0"/>
              <a:t>/share/</a:t>
            </a:r>
            <a:r>
              <a:rPr lang="es-EC" sz="2000" dirty="0" err="1"/>
              <a:t>wordlists</a:t>
            </a:r>
            <a:r>
              <a:rPr lang="es-EC" sz="2000" dirty="0"/>
              <a:t> : </a:t>
            </a:r>
            <a:r>
              <a:rPr lang="es-MX" sz="2000" dirty="0"/>
              <a:t>Dirección donde se encuentran distintos archivos con listas de palabras frecuentes.</a:t>
            </a:r>
            <a:endParaRPr lang="es-EC" sz="2000" dirty="0"/>
          </a:p>
          <a:p>
            <a:pPr algn="just"/>
            <a:r>
              <a:rPr lang="es-EC" sz="2000" dirty="0"/>
              <a:t>/</a:t>
            </a:r>
            <a:r>
              <a:rPr lang="es-EC" sz="2000" dirty="0" err="1"/>
              <a:t>usr</a:t>
            </a:r>
            <a:r>
              <a:rPr lang="es-EC" sz="2000" dirty="0"/>
              <a:t>/share/</a:t>
            </a:r>
            <a:r>
              <a:rPr lang="es-EC" sz="2000" dirty="0" err="1"/>
              <a:t>wordlists</a:t>
            </a:r>
            <a:r>
              <a:rPr lang="es-EC" sz="2000" dirty="0"/>
              <a:t>/</a:t>
            </a:r>
            <a:r>
              <a:rPr lang="es-EC" sz="2000" dirty="0" err="1"/>
              <a:t>metasploit</a:t>
            </a:r>
            <a:r>
              <a:rPr lang="es-EC" sz="2000" dirty="0"/>
              <a:t> : </a:t>
            </a:r>
            <a:r>
              <a:rPr lang="es-MX" sz="2000" dirty="0"/>
              <a:t>Dirección donde se encuentran distintos archivos con listas de palabras frecuentes mas </a:t>
            </a:r>
            <a:r>
              <a:rPr lang="es-MX" sz="2000" dirty="0" smtClean="0"/>
              <a:t>útiles</a:t>
            </a:r>
            <a:r>
              <a:rPr lang="es-MX" sz="2000" b="1" dirty="0" smtClean="0"/>
              <a:t>.</a:t>
            </a:r>
          </a:p>
          <a:p>
            <a:pPr algn="just"/>
            <a:r>
              <a:rPr lang="es-MX" sz="2000" dirty="0" smtClean="0"/>
              <a:t>-h</a:t>
            </a:r>
            <a:r>
              <a:rPr lang="es-MX" sz="2000" dirty="0"/>
              <a:t>: selecciona el </a:t>
            </a:r>
            <a:r>
              <a:rPr lang="es-MX" sz="2000" dirty="0" smtClean="0"/>
              <a:t>host</a:t>
            </a:r>
          </a:p>
          <a:p>
            <a:pPr algn="just"/>
            <a:r>
              <a:rPr lang="es-MX" sz="2000" dirty="0" smtClean="0"/>
              <a:t>-u</a:t>
            </a:r>
            <a:r>
              <a:rPr lang="es-MX" sz="2000" dirty="0"/>
              <a:t>: se usa para saber si existe el </a:t>
            </a:r>
            <a:r>
              <a:rPr lang="es-MX" sz="2000" dirty="0" smtClean="0"/>
              <a:t>usuario</a:t>
            </a:r>
          </a:p>
          <a:p>
            <a:pPr marL="0" indent="0">
              <a:buNone/>
            </a:pPr>
            <a:r>
              <a:rPr lang="es-MX" sz="2000" dirty="0" smtClean="0"/>
              <a:t>	</a:t>
            </a:r>
            <a:r>
              <a:rPr lang="es-MX" sz="2000" dirty="0" err="1" smtClean="0"/>
              <a:t>ej</a:t>
            </a:r>
            <a:r>
              <a:rPr lang="es-MX" sz="2000" dirty="0"/>
              <a:t>: </a:t>
            </a:r>
            <a:r>
              <a:rPr lang="es-MX" sz="2000" dirty="0" err="1" smtClean="0"/>
              <a:t>user</a:t>
            </a:r>
            <a:endParaRPr lang="es-MX" sz="2000" dirty="0"/>
          </a:p>
          <a:p>
            <a:r>
              <a:rPr lang="es-MX" sz="2000" dirty="0" smtClean="0"/>
              <a:t>-U</a:t>
            </a:r>
            <a:r>
              <a:rPr lang="es-MX" sz="2000" dirty="0"/>
              <a:t>: para enviar los usuarios en un archivo de </a:t>
            </a:r>
            <a:r>
              <a:rPr lang="es-MX" sz="2000" dirty="0" smtClean="0"/>
              <a:t>texto</a:t>
            </a:r>
          </a:p>
          <a:p>
            <a:pPr marL="0" indent="0">
              <a:buNone/>
            </a:pPr>
            <a:r>
              <a:rPr lang="es-MX" sz="2000" dirty="0" smtClean="0"/>
              <a:t>	</a:t>
            </a:r>
            <a:r>
              <a:rPr lang="es-MX" sz="2000" dirty="0" err="1" smtClean="0"/>
              <a:t>ej</a:t>
            </a:r>
            <a:r>
              <a:rPr lang="es-MX" sz="2000" dirty="0"/>
              <a:t>: </a:t>
            </a:r>
            <a:r>
              <a:rPr lang="es-MX" sz="2000" dirty="0" smtClean="0"/>
              <a:t>users.txt</a:t>
            </a:r>
          </a:p>
          <a:p>
            <a:r>
              <a:rPr lang="es-MX" sz="2000" dirty="0" smtClean="0"/>
              <a:t>-P</a:t>
            </a:r>
            <a:r>
              <a:rPr lang="es-MX" sz="2000" dirty="0"/>
              <a:t>: para enviar los </a:t>
            </a:r>
            <a:r>
              <a:rPr lang="es-MX" sz="2000" dirty="0" err="1"/>
              <a:t>passwords</a:t>
            </a:r>
            <a:r>
              <a:rPr lang="es-MX" sz="2000" dirty="0"/>
              <a:t> en un archivo de </a:t>
            </a:r>
            <a:r>
              <a:rPr lang="es-MX" sz="2000" dirty="0" smtClean="0"/>
              <a:t>texto</a:t>
            </a:r>
          </a:p>
          <a:p>
            <a:pPr marL="0" indent="0">
              <a:buNone/>
            </a:pPr>
            <a:r>
              <a:rPr lang="es-MX" sz="2000" dirty="0" smtClean="0"/>
              <a:t>	</a:t>
            </a:r>
            <a:r>
              <a:rPr lang="es-MX" sz="2000" dirty="0" err="1" smtClean="0"/>
              <a:t>ej</a:t>
            </a:r>
            <a:r>
              <a:rPr lang="es-MX" sz="2000" dirty="0"/>
              <a:t>: </a:t>
            </a:r>
            <a:r>
              <a:rPr lang="es-MX" sz="2000" dirty="0" smtClean="0"/>
              <a:t>pass.txt</a:t>
            </a:r>
          </a:p>
          <a:p>
            <a:r>
              <a:rPr lang="es-MX" sz="2000" dirty="0" smtClean="0"/>
              <a:t>-M</a:t>
            </a:r>
            <a:r>
              <a:rPr lang="es-MX" sz="2000" dirty="0"/>
              <a:t>: cual es el protocolo que va a </a:t>
            </a:r>
            <a:r>
              <a:rPr lang="es-MX" sz="2000" dirty="0" smtClean="0"/>
              <a:t>usar</a:t>
            </a:r>
          </a:p>
          <a:p>
            <a:pPr marL="0" indent="0">
              <a:buNone/>
            </a:pPr>
            <a:r>
              <a:rPr lang="es-MX" sz="2000" dirty="0" smtClean="0"/>
              <a:t>	</a:t>
            </a:r>
            <a:r>
              <a:rPr lang="es-MX" sz="2000" dirty="0" err="1" smtClean="0"/>
              <a:t>ej</a:t>
            </a:r>
            <a:r>
              <a:rPr lang="es-MX" sz="2000" dirty="0"/>
              <a:t>: </a:t>
            </a:r>
            <a:r>
              <a:rPr lang="es-MX" sz="2000" dirty="0" err="1"/>
              <a:t>ssh</a:t>
            </a:r>
            <a:endParaRPr lang="es-EC" sz="2000" dirty="0"/>
          </a:p>
        </p:txBody>
      </p:sp>
    </p:spTree>
    <p:extLst>
      <p:ext uri="{BB962C8B-B14F-4D97-AF65-F5344CB8AC3E}">
        <p14:creationId xmlns:p14="http://schemas.microsoft.com/office/powerpoint/2010/main" val="23526429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smtClean="0"/>
              <a:t>Ataques contraseñas Linux</a:t>
            </a:r>
            <a:endParaRPr lang="es-EC" b="1" dirty="0"/>
          </a:p>
        </p:txBody>
      </p:sp>
      <p:sp>
        <p:nvSpPr>
          <p:cNvPr id="3" name="Marcador de contenido 2"/>
          <p:cNvSpPr>
            <a:spLocks noGrp="1"/>
          </p:cNvSpPr>
          <p:nvPr>
            <p:ph idx="1"/>
          </p:nvPr>
        </p:nvSpPr>
        <p:spPr>
          <a:xfrm>
            <a:off x="2589212" y="1687132"/>
            <a:ext cx="8915400" cy="4224090"/>
          </a:xfrm>
        </p:spPr>
        <p:txBody>
          <a:bodyPr>
            <a:noAutofit/>
          </a:bodyPr>
          <a:lstStyle/>
          <a:p>
            <a:pPr marL="0" indent="0" algn="just">
              <a:buNone/>
            </a:pPr>
            <a:r>
              <a:rPr lang="es-EC" sz="2000" b="1" dirty="0" smtClean="0"/>
              <a:t>Comandos</a:t>
            </a:r>
          </a:p>
          <a:p>
            <a:pPr algn="just"/>
            <a:r>
              <a:rPr lang="es-EC" sz="2000" dirty="0"/>
              <a:t>/</a:t>
            </a:r>
            <a:r>
              <a:rPr lang="es-EC" sz="2000" dirty="0" err="1" smtClean="0"/>
              <a:t>etc</a:t>
            </a:r>
            <a:r>
              <a:rPr lang="es-EC" sz="2000" dirty="0" smtClean="0"/>
              <a:t>/</a:t>
            </a:r>
            <a:r>
              <a:rPr lang="es-EC" sz="2000" dirty="0" err="1" smtClean="0"/>
              <a:t>passwd</a:t>
            </a:r>
            <a:r>
              <a:rPr lang="es-EC" sz="2000" dirty="0" smtClean="0"/>
              <a:t> : </a:t>
            </a:r>
            <a:r>
              <a:rPr lang="es-MX" sz="2000" dirty="0"/>
              <a:t>Archivo donde se encuentran todos los usuarios que </a:t>
            </a:r>
            <a:r>
              <a:rPr lang="es-MX" sz="2000" dirty="0" smtClean="0"/>
              <a:t>están </a:t>
            </a:r>
            <a:r>
              <a:rPr lang="es-MX" sz="2000" dirty="0"/>
              <a:t>registrados en un sistema UNIX. No solo la gente crea usuarios, </a:t>
            </a:r>
            <a:r>
              <a:rPr lang="es-MX" sz="2000" dirty="0" smtClean="0"/>
              <a:t>también </a:t>
            </a:r>
            <a:r>
              <a:rPr lang="es-MX" sz="2000" dirty="0"/>
              <a:t>los servicios crean</a:t>
            </a:r>
            <a:r>
              <a:rPr lang="es-MX" sz="2000" dirty="0" smtClean="0"/>
              <a:t>.</a:t>
            </a:r>
          </a:p>
          <a:p>
            <a:pPr algn="just"/>
            <a:r>
              <a:rPr lang="es-EC" sz="2000" dirty="0"/>
              <a:t>/</a:t>
            </a:r>
            <a:r>
              <a:rPr lang="es-EC" sz="2000" dirty="0" err="1" smtClean="0"/>
              <a:t>etc</a:t>
            </a:r>
            <a:r>
              <a:rPr lang="es-EC" sz="2000" dirty="0" smtClean="0"/>
              <a:t>/</a:t>
            </a:r>
            <a:r>
              <a:rPr lang="es-EC" sz="2000" dirty="0" err="1" smtClean="0"/>
              <a:t>shadow</a:t>
            </a:r>
            <a:r>
              <a:rPr lang="es-EC" sz="2000" dirty="0" smtClean="0"/>
              <a:t>: </a:t>
            </a:r>
            <a:r>
              <a:rPr lang="es-MX" sz="2000" dirty="0"/>
              <a:t>Almacena el </a:t>
            </a:r>
            <a:r>
              <a:rPr lang="es-MX" sz="2000" dirty="0" err="1"/>
              <a:t>password</a:t>
            </a:r>
            <a:r>
              <a:rPr lang="es-MX" sz="2000" dirty="0"/>
              <a:t> cifrado de cada uno de los usuarios que tengan acceso</a:t>
            </a:r>
            <a:r>
              <a:rPr lang="es-MX" sz="2000" dirty="0" smtClean="0"/>
              <a:t>.</a:t>
            </a:r>
          </a:p>
          <a:p>
            <a:pPr algn="just"/>
            <a:r>
              <a:rPr lang="es-EC" sz="2000" dirty="0" err="1"/>
              <a:t>unshadow</a:t>
            </a:r>
            <a:r>
              <a:rPr lang="es-EC" sz="2000" dirty="0"/>
              <a:t>: es parte de la suite de John </a:t>
            </a:r>
            <a:r>
              <a:rPr lang="es-EC" sz="2000" dirty="0" err="1"/>
              <a:t>the</a:t>
            </a:r>
            <a:r>
              <a:rPr lang="es-EC" sz="2000" dirty="0"/>
              <a:t> </a:t>
            </a:r>
            <a:r>
              <a:rPr lang="es-EC" sz="2000" dirty="0" err="1"/>
              <a:t>Ripper</a:t>
            </a:r>
            <a:r>
              <a:rPr lang="es-EC" sz="2000" dirty="0"/>
              <a:t> (herramienta de </a:t>
            </a:r>
            <a:r>
              <a:rPr lang="es-EC" sz="2000" dirty="0" err="1"/>
              <a:t>analisis</a:t>
            </a:r>
            <a:r>
              <a:rPr lang="es-EC" sz="2000" dirty="0"/>
              <a:t> </a:t>
            </a:r>
            <a:r>
              <a:rPr lang="es-EC" sz="2000" dirty="0" err="1"/>
              <a:t>criptografico</a:t>
            </a:r>
            <a:r>
              <a:rPr lang="es-EC" sz="2000" dirty="0"/>
              <a:t>). combina los archivos de passwd.txt con </a:t>
            </a:r>
            <a:r>
              <a:rPr lang="es-EC" sz="2000" dirty="0" smtClean="0"/>
              <a:t>shadow.txt</a:t>
            </a:r>
          </a:p>
          <a:p>
            <a:pPr algn="just"/>
            <a:r>
              <a:rPr lang="es-MX" sz="2000" dirty="0" err="1"/>
              <a:t>john</a:t>
            </a:r>
            <a:r>
              <a:rPr lang="es-MX" sz="2000" dirty="0"/>
              <a:t>: comando que activa John </a:t>
            </a:r>
            <a:r>
              <a:rPr lang="es-MX" sz="2000" dirty="0" err="1"/>
              <a:t>the</a:t>
            </a:r>
            <a:r>
              <a:rPr lang="es-MX" sz="2000" dirty="0"/>
              <a:t> </a:t>
            </a:r>
            <a:r>
              <a:rPr lang="es-MX" sz="2000" dirty="0" err="1"/>
              <a:t>Ripper</a:t>
            </a:r>
            <a:r>
              <a:rPr lang="es-MX" sz="2000" dirty="0"/>
              <a:t>. Permite hacer ataques a contraseñas y hashes. Compara el valor del hash obtenido con fuerza bruta, con el hash original.</a:t>
            </a:r>
            <a:endParaRPr lang="es-EC" sz="2000" dirty="0"/>
          </a:p>
        </p:txBody>
      </p:sp>
    </p:spTree>
    <p:extLst>
      <p:ext uri="{BB962C8B-B14F-4D97-AF65-F5344CB8AC3E}">
        <p14:creationId xmlns:p14="http://schemas.microsoft.com/office/powerpoint/2010/main" val="27583386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a:t>Ataques contraseñas </a:t>
            </a:r>
            <a:r>
              <a:rPr lang="es-EC" b="1" dirty="0" smtClean="0"/>
              <a:t>Windows</a:t>
            </a:r>
            <a:endParaRPr lang="es-EC" dirty="0"/>
          </a:p>
        </p:txBody>
      </p:sp>
      <p:sp>
        <p:nvSpPr>
          <p:cNvPr id="3" name="Marcador de contenido 2"/>
          <p:cNvSpPr>
            <a:spLocks noGrp="1"/>
          </p:cNvSpPr>
          <p:nvPr>
            <p:ph idx="1"/>
          </p:nvPr>
        </p:nvSpPr>
        <p:spPr/>
        <p:txBody>
          <a:bodyPr>
            <a:normAutofit/>
          </a:bodyPr>
          <a:lstStyle/>
          <a:p>
            <a:pPr algn="just"/>
            <a:r>
              <a:rPr lang="es-MX" sz="2000" dirty="0"/>
              <a:t>El sistema de autenticación de Windows esta formado por llaves y </a:t>
            </a:r>
            <a:r>
              <a:rPr lang="es-MX" sz="2000" dirty="0" err="1" smtClean="0"/>
              <a:t>subllaves</a:t>
            </a:r>
            <a:r>
              <a:rPr lang="es-MX" sz="2000" dirty="0" smtClean="0"/>
              <a:t>.</a:t>
            </a:r>
          </a:p>
          <a:p>
            <a:pPr algn="just"/>
            <a:r>
              <a:rPr lang="es-MX" sz="2000" dirty="0" smtClean="0"/>
              <a:t>Hablamos </a:t>
            </a:r>
            <a:r>
              <a:rPr lang="es-MX" sz="2000" dirty="0"/>
              <a:t>de 4 llaves </a:t>
            </a:r>
            <a:r>
              <a:rPr lang="es-MX" sz="2000" dirty="0" smtClean="0"/>
              <a:t>principales:</a:t>
            </a:r>
          </a:p>
          <a:p>
            <a:pPr marL="457200" indent="-457200" algn="just">
              <a:buFont typeface="+mj-lt"/>
              <a:buAutoNum type="arabicPeriod"/>
            </a:pPr>
            <a:r>
              <a:rPr lang="es-MX" sz="2000" dirty="0" smtClean="0"/>
              <a:t>SAM</a:t>
            </a:r>
            <a:r>
              <a:rPr lang="es-MX" sz="2000" dirty="0"/>
              <a:t>: donde esta la información de los usuarios locales. Contiene los usuarios, contraseñas y </a:t>
            </a:r>
            <a:r>
              <a:rPr lang="es-MX" sz="2000" dirty="0" smtClean="0"/>
              <a:t>demás.</a:t>
            </a:r>
          </a:p>
          <a:p>
            <a:pPr marL="457200" indent="-457200">
              <a:buFont typeface="+mj-lt"/>
              <a:buAutoNum type="arabicPeriod"/>
            </a:pPr>
            <a:r>
              <a:rPr lang="es-MX" sz="2000" dirty="0" smtClean="0"/>
              <a:t>SECURITY</a:t>
            </a:r>
          </a:p>
          <a:p>
            <a:pPr marL="457200" indent="-457200">
              <a:buFont typeface="+mj-lt"/>
              <a:buAutoNum type="arabicPeriod"/>
            </a:pPr>
            <a:r>
              <a:rPr lang="es-MX" sz="2000" dirty="0" smtClean="0"/>
              <a:t>SOFTWARE</a:t>
            </a:r>
          </a:p>
          <a:p>
            <a:pPr marL="457200" indent="-457200">
              <a:buFont typeface="+mj-lt"/>
              <a:buAutoNum type="arabicPeriod"/>
            </a:pPr>
            <a:r>
              <a:rPr lang="es-MX" sz="2000" dirty="0" smtClean="0"/>
              <a:t>SYSTEM</a:t>
            </a:r>
            <a:endParaRPr lang="es-EC" sz="2000" dirty="0"/>
          </a:p>
        </p:txBody>
      </p:sp>
    </p:spTree>
    <p:extLst>
      <p:ext uri="{BB962C8B-B14F-4D97-AF65-F5344CB8AC3E}">
        <p14:creationId xmlns:p14="http://schemas.microsoft.com/office/powerpoint/2010/main" val="23017631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err="1"/>
              <a:t>Rainbow</a:t>
            </a:r>
            <a:r>
              <a:rPr lang="es-EC" b="1" dirty="0"/>
              <a:t> </a:t>
            </a:r>
            <a:r>
              <a:rPr lang="es-EC" b="1" dirty="0" err="1"/>
              <a:t>Tables</a:t>
            </a:r>
            <a:endParaRPr lang="es-EC" dirty="0"/>
          </a:p>
        </p:txBody>
      </p:sp>
      <p:sp>
        <p:nvSpPr>
          <p:cNvPr id="3" name="Marcador de contenido 2"/>
          <p:cNvSpPr>
            <a:spLocks noGrp="1"/>
          </p:cNvSpPr>
          <p:nvPr>
            <p:ph idx="1"/>
          </p:nvPr>
        </p:nvSpPr>
        <p:spPr>
          <a:xfrm>
            <a:off x="2589212" y="1772992"/>
            <a:ext cx="8915400" cy="2502794"/>
          </a:xfrm>
        </p:spPr>
        <p:txBody>
          <a:bodyPr/>
          <a:lstStyle/>
          <a:p>
            <a:pPr algn="just"/>
            <a:r>
              <a:rPr lang="es-MX" sz="2000" dirty="0" err="1"/>
              <a:t>Rainbow</a:t>
            </a:r>
            <a:r>
              <a:rPr lang="es-MX" sz="2000" dirty="0"/>
              <a:t> </a:t>
            </a:r>
            <a:r>
              <a:rPr lang="es-MX" sz="2000" dirty="0" err="1"/>
              <a:t>Table</a:t>
            </a:r>
            <a:r>
              <a:rPr lang="es-MX" sz="2000" dirty="0"/>
              <a:t>: una tabla ya contiene valores hashes </a:t>
            </a:r>
            <a:r>
              <a:rPr lang="es-MX" sz="2000" dirty="0" smtClean="0"/>
              <a:t>pre-calculados</a:t>
            </a:r>
            <a:r>
              <a:rPr lang="es-MX" sz="2000" dirty="0"/>
              <a:t>, de manera que cuando haga el ataque, compara la </a:t>
            </a:r>
            <a:r>
              <a:rPr lang="es-MX" sz="2000" dirty="0" smtClean="0"/>
              <a:t>sección </a:t>
            </a:r>
            <a:r>
              <a:rPr lang="es-MX" sz="2000" dirty="0"/>
              <a:t>de hashes y el valor original, agilizando el procesamiento.</a:t>
            </a:r>
          </a:p>
          <a:p>
            <a:pPr algn="just"/>
            <a:r>
              <a:rPr lang="es-MX" sz="2000" dirty="0" err="1"/>
              <a:t>O</a:t>
            </a:r>
            <a:r>
              <a:rPr lang="es-MX" sz="2000" dirty="0" err="1" smtClean="0"/>
              <a:t>phcrack</a:t>
            </a:r>
            <a:r>
              <a:rPr lang="es-MX" sz="2000" dirty="0"/>
              <a:t>: herramienta que usa diferente tipos de tablas para hacer ataques. Las tablas no vienen de forma nativa en </a:t>
            </a:r>
            <a:r>
              <a:rPr lang="es-MX" sz="2000" dirty="0" err="1"/>
              <a:t>Kali</a:t>
            </a:r>
            <a:r>
              <a:rPr lang="es-MX" sz="2000" dirty="0"/>
              <a:t>, hay que descargarlo aparte.</a:t>
            </a:r>
          </a:p>
          <a:p>
            <a:endParaRPr lang="es-EC" dirty="0"/>
          </a:p>
        </p:txBody>
      </p:sp>
      <p:pic>
        <p:nvPicPr>
          <p:cNvPr id="13314" name="Picture 2" descr="Resultado de imagen para rainbow tabl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8238" y="4054699"/>
            <a:ext cx="6288647" cy="2426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19556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a:t>C</a:t>
            </a:r>
            <a:r>
              <a:rPr lang="es-MX" b="1" dirty="0" smtClean="0"/>
              <a:t>onfiguraciones </a:t>
            </a:r>
            <a:r>
              <a:rPr lang="es-MX" b="1" dirty="0"/>
              <a:t>de un enrutador con </a:t>
            </a:r>
            <a:r>
              <a:rPr lang="es-MX" b="1" dirty="0" err="1"/>
              <a:t>dd-wrt</a:t>
            </a:r>
            <a:endParaRPr lang="es-EC" dirty="0"/>
          </a:p>
        </p:txBody>
      </p:sp>
      <p:sp>
        <p:nvSpPr>
          <p:cNvPr id="3" name="Marcador de contenido 2"/>
          <p:cNvSpPr>
            <a:spLocks noGrp="1"/>
          </p:cNvSpPr>
          <p:nvPr>
            <p:ph idx="1"/>
          </p:nvPr>
        </p:nvSpPr>
        <p:spPr>
          <a:xfrm>
            <a:off x="2592925" y="2455572"/>
            <a:ext cx="8915400" cy="3777622"/>
          </a:xfrm>
        </p:spPr>
        <p:txBody>
          <a:bodyPr>
            <a:normAutofit/>
          </a:bodyPr>
          <a:lstStyle/>
          <a:p>
            <a:pPr marL="0" indent="0" algn="just">
              <a:buNone/>
            </a:pPr>
            <a:r>
              <a:rPr lang="es-MX" sz="2000" dirty="0" err="1"/>
              <a:t>D</a:t>
            </a:r>
            <a:r>
              <a:rPr lang="es-MX" sz="2000" dirty="0" err="1" smtClean="0"/>
              <a:t>d-wrt</a:t>
            </a:r>
            <a:r>
              <a:rPr lang="es-MX" sz="2000" dirty="0"/>
              <a:t>: Sistema operativo para poder sobrepasar los </a:t>
            </a:r>
            <a:r>
              <a:rPr lang="es-MX" sz="2000" dirty="0" smtClean="0"/>
              <a:t>límites </a:t>
            </a:r>
            <a:r>
              <a:rPr lang="es-MX" sz="2000" dirty="0"/>
              <a:t>del software base(firmware) en un hardware de </a:t>
            </a:r>
            <a:r>
              <a:rPr lang="es-MX" sz="2000" dirty="0" err="1"/>
              <a:t>router</a:t>
            </a:r>
            <a:r>
              <a:rPr lang="es-MX" sz="2000" dirty="0"/>
              <a:t>.</a:t>
            </a:r>
          </a:p>
          <a:p>
            <a:pPr marL="0" indent="0" algn="just">
              <a:buNone/>
            </a:pPr>
            <a:r>
              <a:rPr lang="es-MX" sz="2000" b="1" dirty="0" smtClean="0"/>
              <a:t>Procedimiento:</a:t>
            </a:r>
            <a:endParaRPr lang="es-MX" sz="2000" dirty="0"/>
          </a:p>
          <a:p>
            <a:pPr algn="just"/>
            <a:r>
              <a:rPr lang="es-MX" sz="2000" dirty="0"/>
              <a:t>Reiniciar el enrutador pulsando el </a:t>
            </a:r>
            <a:r>
              <a:rPr lang="es-MX" sz="2000" dirty="0" smtClean="0"/>
              <a:t>botón </a:t>
            </a:r>
            <a:r>
              <a:rPr lang="es-MX" sz="2000" dirty="0"/>
              <a:t>de </a:t>
            </a:r>
            <a:r>
              <a:rPr lang="es-MX" sz="2000" dirty="0" err="1"/>
              <a:t>reset</a:t>
            </a:r>
            <a:r>
              <a:rPr lang="es-MX" sz="2000" dirty="0"/>
              <a:t> durante 30 segundos.</a:t>
            </a:r>
          </a:p>
          <a:p>
            <a:pPr algn="just"/>
            <a:r>
              <a:rPr lang="es-MX" sz="2000" dirty="0"/>
              <a:t>Desconectar la </a:t>
            </a:r>
            <a:r>
              <a:rPr lang="es-MX" sz="2000" dirty="0" smtClean="0"/>
              <a:t>alimentación </a:t>
            </a:r>
            <a:r>
              <a:rPr lang="es-MX" sz="2000" dirty="0"/>
              <a:t>y esperar otros 30 </a:t>
            </a:r>
            <a:r>
              <a:rPr lang="es-MX" sz="2000" dirty="0" smtClean="0"/>
              <a:t>segundos.</a:t>
            </a:r>
            <a:endParaRPr lang="es-MX" sz="2000" dirty="0"/>
          </a:p>
          <a:p>
            <a:pPr algn="just"/>
            <a:r>
              <a:rPr lang="es-MX" sz="2000" dirty="0"/>
              <a:t>Vuelvo a conectar la corriente y espero otros 30 </a:t>
            </a:r>
            <a:r>
              <a:rPr lang="es-MX" sz="2000" dirty="0" smtClean="0"/>
              <a:t>segundos.</a:t>
            </a:r>
            <a:endParaRPr lang="es-MX" sz="2000" dirty="0"/>
          </a:p>
          <a:p>
            <a:pPr algn="just"/>
            <a:r>
              <a:rPr lang="es-MX" sz="2000" dirty="0"/>
              <a:t>Conectarse con el puerto Ethernet directamente al enrutador, entrar al panel de </a:t>
            </a:r>
            <a:r>
              <a:rPr lang="es-MX" sz="2000" dirty="0" smtClean="0"/>
              <a:t>administración </a:t>
            </a:r>
            <a:r>
              <a:rPr lang="es-MX" sz="2000" dirty="0"/>
              <a:t>e instalar el </a:t>
            </a:r>
            <a:r>
              <a:rPr lang="es-MX" sz="2000" dirty="0" smtClean="0"/>
              <a:t>SO.</a:t>
            </a:r>
            <a:endParaRPr lang="es-MX" sz="2000" dirty="0"/>
          </a:p>
          <a:p>
            <a:pPr algn="just"/>
            <a:endParaRPr lang="es-EC" sz="2000" dirty="0"/>
          </a:p>
        </p:txBody>
      </p:sp>
    </p:spTree>
    <p:extLst>
      <p:ext uri="{BB962C8B-B14F-4D97-AF65-F5344CB8AC3E}">
        <p14:creationId xmlns:p14="http://schemas.microsoft.com/office/powerpoint/2010/main" val="5572419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a:t>I</a:t>
            </a:r>
            <a:r>
              <a:rPr lang="es-MX" b="1" dirty="0" smtClean="0"/>
              <a:t>nterfaces </a:t>
            </a:r>
            <a:r>
              <a:rPr lang="es-MX" b="1" dirty="0"/>
              <a:t>en modo monitor con </a:t>
            </a:r>
            <a:r>
              <a:rPr lang="es-MX" b="1" dirty="0" err="1"/>
              <a:t>Airmon-ng</a:t>
            </a:r>
            <a:endParaRPr lang="es-EC" dirty="0"/>
          </a:p>
        </p:txBody>
      </p:sp>
      <p:sp>
        <p:nvSpPr>
          <p:cNvPr id="3" name="Marcador de contenido 2"/>
          <p:cNvSpPr>
            <a:spLocks noGrp="1"/>
          </p:cNvSpPr>
          <p:nvPr>
            <p:ph idx="1"/>
          </p:nvPr>
        </p:nvSpPr>
        <p:spPr>
          <a:xfrm>
            <a:off x="2592925" y="2352541"/>
            <a:ext cx="8915400" cy="3777622"/>
          </a:xfrm>
        </p:spPr>
        <p:txBody>
          <a:bodyPr>
            <a:normAutofit/>
          </a:bodyPr>
          <a:lstStyle/>
          <a:p>
            <a:pPr algn="just"/>
            <a:r>
              <a:rPr lang="es-EC" sz="2000" dirty="0" err="1" smtClean="0"/>
              <a:t>Iwconfig</a:t>
            </a:r>
            <a:r>
              <a:rPr lang="es-EC" sz="2000" dirty="0" smtClean="0"/>
              <a:t> : </a:t>
            </a:r>
            <a:r>
              <a:rPr lang="es-MX" sz="2000" dirty="0"/>
              <a:t>Revisar las interfaces que </a:t>
            </a:r>
            <a:r>
              <a:rPr lang="es-MX" sz="2000" dirty="0" smtClean="0"/>
              <a:t>tengo.</a:t>
            </a:r>
          </a:p>
          <a:p>
            <a:pPr algn="just"/>
            <a:r>
              <a:rPr lang="es-EC" sz="2000" dirty="0" err="1"/>
              <a:t>airmon-ng</a:t>
            </a:r>
            <a:r>
              <a:rPr lang="es-EC" sz="2000" dirty="0"/>
              <a:t> stop &lt;interface</a:t>
            </a:r>
            <a:r>
              <a:rPr lang="es-EC" sz="2000" dirty="0" smtClean="0"/>
              <a:t>&gt; : </a:t>
            </a:r>
            <a:r>
              <a:rPr lang="es-EC" sz="2000" dirty="0"/>
              <a:t>apaga la interface</a:t>
            </a:r>
            <a:r>
              <a:rPr lang="es-EC" sz="2000" dirty="0" smtClean="0"/>
              <a:t>.</a:t>
            </a:r>
            <a:endParaRPr lang="es-EC" sz="2000" dirty="0"/>
          </a:p>
          <a:p>
            <a:pPr algn="just"/>
            <a:r>
              <a:rPr lang="es-EC" sz="2000" dirty="0" err="1"/>
              <a:t>iwlist</a:t>
            </a:r>
            <a:r>
              <a:rPr lang="es-EC" sz="2000" dirty="0"/>
              <a:t> &lt;interface&gt; </a:t>
            </a:r>
            <a:r>
              <a:rPr lang="es-EC" sz="2000" dirty="0" err="1" smtClean="0"/>
              <a:t>scan</a:t>
            </a:r>
            <a:r>
              <a:rPr lang="es-EC" sz="2000" dirty="0" smtClean="0"/>
              <a:t> : </a:t>
            </a:r>
            <a:r>
              <a:rPr lang="es-MX" sz="2000" dirty="0"/>
              <a:t>Lista las redes </a:t>
            </a:r>
            <a:r>
              <a:rPr lang="es-MX" sz="2000" dirty="0" smtClean="0"/>
              <a:t>inalámbricas </a:t>
            </a:r>
            <a:r>
              <a:rPr lang="es-MX" sz="2000" dirty="0"/>
              <a:t>que </a:t>
            </a:r>
            <a:r>
              <a:rPr lang="es-MX" sz="2000" dirty="0" smtClean="0"/>
              <a:t>están </a:t>
            </a:r>
            <a:r>
              <a:rPr lang="es-MX" sz="2000" dirty="0"/>
              <a:t>disponibles para la </a:t>
            </a:r>
            <a:r>
              <a:rPr lang="es-MX" sz="2000" dirty="0" smtClean="0"/>
              <a:t>interface.</a:t>
            </a:r>
          </a:p>
          <a:p>
            <a:pPr algn="just"/>
            <a:r>
              <a:rPr lang="es-EC" sz="2000" dirty="0" err="1"/>
              <a:t>airmon-ng</a:t>
            </a:r>
            <a:r>
              <a:rPr lang="es-EC" sz="2000" dirty="0"/>
              <a:t> </a:t>
            </a:r>
            <a:r>
              <a:rPr lang="es-EC" sz="2000" dirty="0" err="1"/>
              <a:t>start</a:t>
            </a:r>
            <a:r>
              <a:rPr lang="es-EC" sz="2000" dirty="0"/>
              <a:t> &lt;interface&gt; &lt;</a:t>
            </a:r>
            <a:r>
              <a:rPr lang="es-EC" sz="2000" dirty="0" err="1"/>
              <a:t>nro_del_canal</a:t>
            </a:r>
            <a:r>
              <a:rPr lang="es-EC" sz="2000" dirty="0" smtClean="0"/>
              <a:t>&gt; : </a:t>
            </a:r>
            <a:r>
              <a:rPr lang="es-EC" sz="2000" dirty="0"/>
              <a:t>Inicia la interface en modo monitor</a:t>
            </a:r>
            <a:r>
              <a:rPr lang="es-EC" sz="2000" dirty="0" smtClean="0"/>
              <a:t>.</a:t>
            </a:r>
          </a:p>
          <a:p>
            <a:pPr algn="just"/>
            <a:r>
              <a:rPr lang="es-EC" sz="2000" dirty="0" err="1"/>
              <a:t>airmon</a:t>
            </a:r>
            <a:r>
              <a:rPr lang="es-EC" sz="2000" dirty="0"/>
              <a:t> -</a:t>
            </a:r>
            <a:r>
              <a:rPr lang="es-EC" sz="2000" dirty="0" err="1"/>
              <a:t>ng</a:t>
            </a:r>
            <a:r>
              <a:rPr lang="es-EC" sz="2000" dirty="0"/>
              <a:t> </a:t>
            </a:r>
            <a:r>
              <a:rPr lang="es-EC" sz="2000" dirty="0" err="1" smtClean="0"/>
              <a:t>check</a:t>
            </a:r>
            <a:r>
              <a:rPr lang="es-EC" sz="2000" dirty="0" smtClean="0"/>
              <a:t> : </a:t>
            </a:r>
            <a:r>
              <a:rPr lang="es-MX" sz="2000" dirty="0"/>
              <a:t>Busca procesos que pueden interferir con el funcionamiento de </a:t>
            </a:r>
            <a:r>
              <a:rPr lang="es-MX" sz="2000" dirty="0" err="1" smtClean="0"/>
              <a:t>airmon</a:t>
            </a:r>
            <a:r>
              <a:rPr lang="es-MX" sz="2000" dirty="0" smtClean="0"/>
              <a:t>.</a:t>
            </a:r>
          </a:p>
          <a:p>
            <a:pPr algn="just"/>
            <a:r>
              <a:rPr lang="es-EC" sz="2000" dirty="0" err="1"/>
              <a:t>airmon</a:t>
            </a:r>
            <a:r>
              <a:rPr lang="es-EC" sz="2000" dirty="0"/>
              <a:t> -</a:t>
            </a:r>
            <a:r>
              <a:rPr lang="es-EC" sz="2000" dirty="0" err="1"/>
              <a:t>ng</a:t>
            </a:r>
            <a:r>
              <a:rPr lang="es-EC" sz="2000" dirty="0"/>
              <a:t> </a:t>
            </a:r>
            <a:r>
              <a:rPr lang="es-EC" sz="2000" dirty="0" err="1"/>
              <a:t>check</a:t>
            </a:r>
            <a:r>
              <a:rPr lang="es-EC" sz="2000" dirty="0"/>
              <a:t> </a:t>
            </a:r>
            <a:r>
              <a:rPr lang="es-EC" sz="2000" dirty="0" err="1" smtClean="0"/>
              <a:t>kill</a:t>
            </a:r>
            <a:r>
              <a:rPr lang="es-EC" sz="2000" dirty="0" smtClean="0"/>
              <a:t> : </a:t>
            </a:r>
            <a:r>
              <a:rPr lang="es-MX" sz="2000" dirty="0"/>
              <a:t>Mata los procesos que </a:t>
            </a:r>
            <a:r>
              <a:rPr lang="es-MX" sz="2000" dirty="0" smtClean="0"/>
              <a:t>interfieren.</a:t>
            </a:r>
            <a:endParaRPr lang="es-EC" sz="2000" dirty="0"/>
          </a:p>
        </p:txBody>
      </p:sp>
    </p:spTree>
    <p:extLst>
      <p:ext uri="{BB962C8B-B14F-4D97-AF65-F5344CB8AC3E}">
        <p14:creationId xmlns:p14="http://schemas.microsoft.com/office/powerpoint/2010/main" val="18182553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a:t>Ataque a una red </a:t>
            </a:r>
            <a:r>
              <a:rPr lang="es-MX" b="1" dirty="0" err="1"/>
              <a:t>wifi</a:t>
            </a:r>
            <a:r>
              <a:rPr lang="es-MX" b="1" dirty="0"/>
              <a:t> con </a:t>
            </a:r>
            <a:r>
              <a:rPr lang="es-MX" b="1" dirty="0" err="1"/>
              <a:t>Aircrak</a:t>
            </a:r>
            <a:r>
              <a:rPr lang="es-MX" b="1" dirty="0"/>
              <a:t>/</a:t>
            </a:r>
            <a:r>
              <a:rPr lang="es-MX" b="1" dirty="0" err="1"/>
              <a:t>ng</a:t>
            </a:r>
            <a:endParaRPr lang="es-EC" dirty="0"/>
          </a:p>
        </p:txBody>
      </p:sp>
      <p:sp>
        <p:nvSpPr>
          <p:cNvPr id="3" name="Marcador de contenido 2"/>
          <p:cNvSpPr>
            <a:spLocks noGrp="1"/>
          </p:cNvSpPr>
          <p:nvPr>
            <p:ph idx="1"/>
          </p:nvPr>
        </p:nvSpPr>
        <p:spPr>
          <a:xfrm>
            <a:off x="2589212" y="2700270"/>
            <a:ext cx="8915400" cy="3777622"/>
          </a:xfrm>
        </p:spPr>
        <p:txBody>
          <a:bodyPr>
            <a:normAutofit/>
          </a:bodyPr>
          <a:lstStyle/>
          <a:p>
            <a:r>
              <a:rPr lang="en-US" sz="2000" dirty="0" err="1"/>
              <a:t>aireplay</a:t>
            </a:r>
            <a:r>
              <a:rPr lang="en-US" sz="2000" dirty="0"/>
              <a:t> -ng -3 --</a:t>
            </a:r>
            <a:r>
              <a:rPr lang="en-US" sz="2000" dirty="0" err="1"/>
              <a:t>arpreplay</a:t>
            </a:r>
            <a:r>
              <a:rPr lang="en-US" sz="2000" dirty="0"/>
              <a:t> -b &lt;MAC_AP&gt; -h &lt;</a:t>
            </a:r>
            <a:r>
              <a:rPr lang="en-US" sz="2000" dirty="0" err="1"/>
              <a:t>MAC_Conocida</a:t>
            </a:r>
            <a:r>
              <a:rPr lang="en-US" sz="2000" dirty="0"/>
              <a:t>&gt; &lt;interface</a:t>
            </a:r>
            <a:r>
              <a:rPr lang="en-US" sz="2000" dirty="0" smtClean="0"/>
              <a:t>&gt;</a:t>
            </a:r>
          </a:p>
          <a:p>
            <a:pPr marL="0" indent="0">
              <a:buNone/>
            </a:pPr>
            <a:r>
              <a:rPr lang="es-MX" sz="2000" dirty="0"/>
              <a:t>Empieza el capturado de paquetes a través de solicitudes ARP</a:t>
            </a:r>
            <a:r>
              <a:rPr lang="es-MX" sz="2000" dirty="0" smtClean="0"/>
              <a:t>.</a:t>
            </a:r>
          </a:p>
          <a:p>
            <a:r>
              <a:rPr lang="es-MX" sz="2000" dirty="0" err="1"/>
              <a:t>aircrack-ng</a:t>
            </a:r>
            <a:r>
              <a:rPr lang="es-MX" sz="2000" dirty="0"/>
              <a:t> -z -b &lt;</a:t>
            </a:r>
            <a:r>
              <a:rPr lang="es-MX" sz="2000" dirty="0" err="1"/>
              <a:t>MAC_del_AP</a:t>
            </a:r>
            <a:r>
              <a:rPr lang="es-MX" sz="2000" dirty="0"/>
              <a:t>&gt; &lt;archivo de captura</a:t>
            </a:r>
            <a:r>
              <a:rPr lang="es-MX" sz="2000" dirty="0" smtClean="0"/>
              <a:t>&gt;</a:t>
            </a:r>
          </a:p>
          <a:p>
            <a:pPr marL="0" indent="0">
              <a:buNone/>
            </a:pPr>
            <a:r>
              <a:rPr lang="es-MX" sz="2000" dirty="0"/>
              <a:t>Conseguir la clave de la </a:t>
            </a:r>
            <a:r>
              <a:rPr lang="es-MX" sz="2000" dirty="0" err="1"/>
              <a:t>wifi</a:t>
            </a:r>
            <a:r>
              <a:rPr lang="es-MX" sz="2000" dirty="0"/>
              <a:t> de cifrado WEP</a:t>
            </a:r>
            <a:r>
              <a:rPr lang="es-MX" sz="2000" dirty="0" smtClean="0"/>
              <a:t>.</a:t>
            </a:r>
          </a:p>
          <a:p>
            <a:pPr marL="0" indent="0">
              <a:buNone/>
            </a:pPr>
            <a:r>
              <a:rPr lang="es-MX" sz="2000" dirty="0" smtClean="0"/>
              <a:t>-</a:t>
            </a:r>
            <a:r>
              <a:rPr lang="es-MX" sz="2000" dirty="0"/>
              <a:t>z: elije el modo de ataque. Un </a:t>
            </a:r>
            <a:r>
              <a:rPr lang="es-MX" sz="2000" dirty="0" smtClean="0"/>
              <a:t>método </a:t>
            </a:r>
            <a:r>
              <a:rPr lang="es-MX" sz="2000" dirty="0"/>
              <a:t>de ataque PTW.</a:t>
            </a:r>
            <a:endParaRPr lang="es-EC" sz="2000" u="sng" dirty="0"/>
          </a:p>
        </p:txBody>
      </p:sp>
    </p:spTree>
    <p:extLst>
      <p:ext uri="{BB962C8B-B14F-4D97-AF65-F5344CB8AC3E}">
        <p14:creationId xmlns:p14="http://schemas.microsoft.com/office/powerpoint/2010/main" val="30595124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a:t>Ingeniería Social</a:t>
            </a:r>
            <a:endParaRPr lang="es-EC" dirty="0"/>
          </a:p>
        </p:txBody>
      </p:sp>
      <p:sp>
        <p:nvSpPr>
          <p:cNvPr id="3" name="Marcador de contenido 2"/>
          <p:cNvSpPr>
            <a:spLocks noGrp="1"/>
          </p:cNvSpPr>
          <p:nvPr>
            <p:ph idx="1"/>
          </p:nvPr>
        </p:nvSpPr>
        <p:spPr>
          <a:xfrm>
            <a:off x="2589212" y="1811628"/>
            <a:ext cx="8915400" cy="2077792"/>
          </a:xfrm>
        </p:spPr>
        <p:txBody>
          <a:bodyPr>
            <a:normAutofit/>
          </a:bodyPr>
          <a:lstStyle/>
          <a:p>
            <a:pPr marL="0" indent="0" algn="just">
              <a:buNone/>
            </a:pPr>
            <a:r>
              <a:rPr lang="es-MX" sz="2000" dirty="0"/>
              <a:t>La Ingeniería Social es el conjunto de actividades o engaños que los atacantes usan para obtener información o bienes de las organizaciones a través de la manipulación de los usuarios legítimos. Es decir, la Ingeniería Social es la ciencia y el arte de </a:t>
            </a:r>
            <a:r>
              <a:rPr lang="es-MX" sz="2000" i="1" dirty="0" err="1"/>
              <a:t>hackear</a:t>
            </a:r>
            <a:r>
              <a:rPr lang="es-MX" sz="2000" dirty="0"/>
              <a:t> a las personas.</a:t>
            </a:r>
            <a:endParaRPr lang="es-EC" sz="2000" dirty="0"/>
          </a:p>
        </p:txBody>
      </p:sp>
      <p:pic>
        <p:nvPicPr>
          <p:cNvPr id="14338" name="Picture 2" descr="Resultado de imagen para ingenieria social"/>
          <p:cNvPicPr>
            <a:picLocks noChangeAspect="1" noChangeArrowheads="1"/>
          </p:cNvPicPr>
          <p:nvPr/>
        </p:nvPicPr>
        <p:blipFill rotWithShape="1">
          <a:blip r:embed="rId2">
            <a:extLst>
              <a:ext uri="{28A0092B-C50C-407E-A947-70E740481C1C}">
                <a14:useLocalDpi xmlns:a14="http://schemas.microsoft.com/office/drawing/2010/main" val="0"/>
              </a:ext>
            </a:extLst>
          </a:blip>
          <a:srcRect t="20894"/>
          <a:stretch/>
        </p:blipFill>
        <p:spPr bwMode="auto">
          <a:xfrm>
            <a:off x="3387703" y="3764554"/>
            <a:ext cx="6636086" cy="26247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84534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a:t>Ataque con SET</a:t>
            </a:r>
            <a:endParaRPr lang="es-EC" dirty="0"/>
          </a:p>
        </p:txBody>
      </p:sp>
      <p:sp>
        <p:nvSpPr>
          <p:cNvPr id="3" name="Marcador de contenido 2"/>
          <p:cNvSpPr>
            <a:spLocks noGrp="1"/>
          </p:cNvSpPr>
          <p:nvPr>
            <p:ph idx="1"/>
          </p:nvPr>
        </p:nvSpPr>
        <p:spPr>
          <a:xfrm>
            <a:off x="2589212" y="1905000"/>
            <a:ext cx="8915400" cy="3777622"/>
          </a:xfrm>
        </p:spPr>
        <p:txBody>
          <a:bodyPr>
            <a:noAutofit/>
          </a:bodyPr>
          <a:lstStyle/>
          <a:p>
            <a:pPr algn="just"/>
            <a:r>
              <a:rPr lang="es-MX" sz="2000" dirty="0"/>
              <a:t>SET: </a:t>
            </a:r>
            <a:r>
              <a:rPr lang="es-MX" sz="2000" dirty="0" err="1"/>
              <a:t>framework</a:t>
            </a:r>
            <a:r>
              <a:rPr lang="es-MX" sz="2000" dirty="0"/>
              <a:t> con herramientas para hacer ataques de </a:t>
            </a:r>
            <a:r>
              <a:rPr lang="es-MX" sz="2000" dirty="0" smtClean="0"/>
              <a:t>ingeniería </a:t>
            </a:r>
            <a:r>
              <a:rPr lang="es-MX" sz="2000" dirty="0"/>
              <a:t>social, tiene una </a:t>
            </a:r>
            <a:r>
              <a:rPr lang="es-MX" sz="2000" dirty="0" smtClean="0"/>
              <a:t>implementación </a:t>
            </a:r>
            <a:r>
              <a:rPr lang="es-MX" sz="2000" dirty="0"/>
              <a:t>de </a:t>
            </a:r>
            <a:r>
              <a:rPr lang="es-MX" sz="2000" dirty="0" err="1"/>
              <a:t>metasploit</a:t>
            </a:r>
            <a:r>
              <a:rPr lang="es-MX" sz="2000" dirty="0"/>
              <a:t>, por lo cual se puede llamar a su motor para usarlo en nuestras pruebas</a:t>
            </a:r>
            <a:r>
              <a:rPr lang="es-MX" sz="2000" dirty="0" smtClean="0"/>
              <a:t>.</a:t>
            </a:r>
          </a:p>
          <a:p>
            <a:pPr algn="just"/>
            <a:r>
              <a:rPr lang="es-EC" sz="2000" dirty="0" err="1" smtClean="0"/>
              <a:t>Setoolkit</a:t>
            </a:r>
            <a:r>
              <a:rPr lang="es-EC" sz="2000" dirty="0" smtClean="0"/>
              <a:t>: </a:t>
            </a:r>
            <a:r>
              <a:rPr lang="es-MX" sz="2000" dirty="0"/>
              <a:t>Inicializa el programa de </a:t>
            </a:r>
            <a:r>
              <a:rPr lang="es-MX" sz="2000" dirty="0" smtClean="0"/>
              <a:t>SET.</a:t>
            </a:r>
          </a:p>
          <a:p>
            <a:pPr algn="just"/>
            <a:r>
              <a:rPr lang="es-EC" sz="2000" dirty="0" err="1"/>
              <a:t>service</a:t>
            </a:r>
            <a:r>
              <a:rPr lang="es-EC" sz="2000" dirty="0"/>
              <a:t> </a:t>
            </a:r>
            <a:r>
              <a:rPr lang="es-EC" sz="2000" dirty="0" err="1"/>
              <a:t>postgresql</a:t>
            </a:r>
            <a:r>
              <a:rPr lang="es-EC" sz="2000" dirty="0"/>
              <a:t> </a:t>
            </a:r>
            <a:r>
              <a:rPr lang="es-EC" sz="2000" dirty="0" err="1" smtClean="0"/>
              <a:t>start</a:t>
            </a:r>
            <a:endParaRPr lang="es-EC" sz="2000" dirty="0" smtClean="0"/>
          </a:p>
          <a:p>
            <a:pPr algn="just"/>
            <a:r>
              <a:rPr lang="es-EC" sz="2000" dirty="0" err="1" smtClean="0"/>
              <a:t>Sessions</a:t>
            </a:r>
            <a:r>
              <a:rPr lang="es-EC" sz="2000" dirty="0"/>
              <a:t> </a:t>
            </a:r>
            <a:r>
              <a:rPr lang="es-EC" sz="2000" dirty="0" smtClean="0"/>
              <a:t>: </a:t>
            </a:r>
            <a:r>
              <a:rPr lang="es-MX" sz="2000" dirty="0"/>
              <a:t>Podemos observar el usuario que acepto nuestro </a:t>
            </a:r>
            <a:r>
              <a:rPr lang="es-MX" sz="2000" dirty="0" err="1" smtClean="0"/>
              <a:t>Applet</a:t>
            </a:r>
            <a:r>
              <a:rPr lang="es-MX" sz="2000" dirty="0" smtClean="0"/>
              <a:t>.</a:t>
            </a:r>
          </a:p>
          <a:p>
            <a:pPr algn="just"/>
            <a:r>
              <a:rPr lang="es-EC" sz="2000" dirty="0" err="1"/>
              <a:t>sessions</a:t>
            </a:r>
            <a:r>
              <a:rPr lang="es-EC" sz="2000" dirty="0"/>
              <a:t> &lt;id</a:t>
            </a:r>
            <a:r>
              <a:rPr lang="es-EC" sz="2000" dirty="0" smtClean="0"/>
              <a:t>&gt; : </a:t>
            </a:r>
            <a:r>
              <a:rPr lang="es-MX" sz="2000" dirty="0"/>
              <a:t>Conecto el </a:t>
            </a:r>
            <a:r>
              <a:rPr lang="es-MX" sz="2000" dirty="0" err="1"/>
              <a:t>exploit</a:t>
            </a:r>
            <a:r>
              <a:rPr lang="es-MX" sz="2000" dirty="0"/>
              <a:t> de </a:t>
            </a:r>
            <a:r>
              <a:rPr lang="es-MX" sz="2000" dirty="0" err="1"/>
              <a:t>msf</a:t>
            </a:r>
            <a:r>
              <a:rPr lang="es-MX" sz="2000" dirty="0"/>
              <a:t> al </a:t>
            </a:r>
            <a:r>
              <a:rPr lang="es-MX" sz="2000" dirty="0" smtClean="0"/>
              <a:t>usuario.</a:t>
            </a:r>
          </a:p>
          <a:p>
            <a:pPr algn="just"/>
            <a:r>
              <a:rPr lang="es-EC" sz="2000" dirty="0" err="1" smtClean="0"/>
              <a:t>Hashdump</a:t>
            </a:r>
            <a:r>
              <a:rPr lang="es-EC" sz="2000" dirty="0" smtClean="0"/>
              <a:t> : </a:t>
            </a:r>
            <a:r>
              <a:rPr lang="es-MX" sz="2000" dirty="0"/>
              <a:t>Realizo la </a:t>
            </a:r>
            <a:r>
              <a:rPr lang="es-MX" sz="2000" dirty="0" smtClean="0"/>
              <a:t>instrucción </a:t>
            </a:r>
            <a:r>
              <a:rPr lang="es-MX" sz="2000" dirty="0"/>
              <a:t>de </a:t>
            </a:r>
            <a:r>
              <a:rPr lang="es-MX" sz="2000" dirty="0" err="1"/>
              <a:t>hashdump</a:t>
            </a:r>
            <a:r>
              <a:rPr lang="es-MX" sz="2000" dirty="0"/>
              <a:t> (en este caso no funciona por no tener </a:t>
            </a:r>
            <a:r>
              <a:rPr lang="es-MX" sz="2000" dirty="0" err="1"/>
              <a:t>lso</a:t>
            </a:r>
            <a:r>
              <a:rPr lang="es-MX" sz="2000" dirty="0"/>
              <a:t> permisos</a:t>
            </a:r>
            <a:r>
              <a:rPr lang="es-MX" sz="2000" dirty="0" smtClean="0"/>
              <a:t>).</a:t>
            </a:r>
          </a:p>
          <a:p>
            <a:pPr algn="just"/>
            <a:r>
              <a:rPr lang="es-EC" sz="2000" dirty="0" err="1" smtClean="0"/>
              <a:t>Help</a:t>
            </a:r>
            <a:r>
              <a:rPr lang="es-EC" sz="2000" dirty="0" smtClean="0"/>
              <a:t> : </a:t>
            </a:r>
            <a:r>
              <a:rPr lang="es-MX" sz="2000" dirty="0"/>
              <a:t>muestra que comandos puedo ejecutar con ese </a:t>
            </a:r>
            <a:r>
              <a:rPr lang="es-MX" sz="2000" dirty="0" smtClean="0"/>
              <a:t>usuario.</a:t>
            </a:r>
            <a:endParaRPr lang="es-EC" sz="2000" dirty="0"/>
          </a:p>
        </p:txBody>
      </p:sp>
    </p:spTree>
    <p:extLst>
      <p:ext uri="{BB962C8B-B14F-4D97-AF65-F5344CB8AC3E}">
        <p14:creationId xmlns:p14="http://schemas.microsoft.com/office/powerpoint/2010/main" val="39066632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err="1"/>
              <a:t>Credential</a:t>
            </a:r>
            <a:r>
              <a:rPr lang="es-EC" b="1" dirty="0"/>
              <a:t> </a:t>
            </a:r>
            <a:r>
              <a:rPr lang="es-EC" b="1" dirty="0" err="1"/>
              <a:t>Harvesting</a:t>
            </a:r>
            <a:endParaRPr lang="es-EC" dirty="0"/>
          </a:p>
        </p:txBody>
      </p:sp>
      <p:sp>
        <p:nvSpPr>
          <p:cNvPr id="3" name="Marcador de contenido 2"/>
          <p:cNvSpPr>
            <a:spLocks noGrp="1"/>
          </p:cNvSpPr>
          <p:nvPr>
            <p:ph idx="1"/>
          </p:nvPr>
        </p:nvSpPr>
        <p:spPr>
          <a:xfrm>
            <a:off x="2592925" y="1774223"/>
            <a:ext cx="8915400" cy="3777622"/>
          </a:xfrm>
        </p:spPr>
        <p:txBody>
          <a:bodyPr>
            <a:normAutofit/>
          </a:bodyPr>
          <a:lstStyle/>
          <a:p>
            <a:pPr algn="just"/>
            <a:r>
              <a:rPr lang="es-MX" sz="2000" dirty="0" err="1"/>
              <a:t>Credential</a:t>
            </a:r>
            <a:r>
              <a:rPr lang="es-MX" sz="2000" dirty="0"/>
              <a:t> </a:t>
            </a:r>
            <a:r>
              <a:rPr lang="es-MX" sz="2000" dirty="0" err="1" smtClean="0"/>
              <a:t>Harvesting</a:t>
            </a:r>
            <a:r>
              <a:rPr lang="es-MX" sz="2000" dirty="0" smtClean="0"/>
              <a:t> trata </a:t>
            </a:r>
            <a:r>
              <a:rPr lang="es-MX" sz="2000" dirty="0"/>
              <a:t>de capturar las credenciales de la </a:t>
            </a:r>
            <a:r>
              <a:rPr lang="es-MX" sz="2000" dirty="0" smtClean="0"/>
              <a:t>página </a:t>
            </a:r>
            <a:r>
              <a:rPr lang="es-MX" sz="2000" dirty="0"/>
              <a:t>de </a:t>
            </a:r>
            <a:r>
              <a:rPr lang="es-MX" sz="2000" dirty="0" err="1"/>
              <a:t>login</a:t>
            </a:r>
            <a:r>
              <a:rPr lang="es-MX" sz="2000" dirty="0"/>
              <a:t> a </a:t>
            </a:r>
            <a:r>
              <a:rPr lang="es-MX" sz="2000" dirty="0" err="1"/>
              <a:t>algun</a:t>
            </a:r>
            <a:r>
              <a:rPr lang="es-MX" sz="2000" dirty="0"/>
              <a:t> </a:t>
            </a:r>
            <a:r>
              <a:rPr lang="es-MX" sz="2000" dirty="0" smtClean="0"/>
              <a:t>usuario.</a:t>
            </a:r>
          </a:p>
          <a:p>
            <a:pPr algn="just"/>
            <a:r>
              <a:rPr lang="es-MX" sz="2000" dirty="0"/>
              <a:t>Para clonar un sitio web se puede usar uno de los </a:t>
            </a:r>
            <a:r>
              <a:rPr lang="es-MX" sz="2000" dirty="0" err="1"/>
              <a:t>templates</a:t>
            </a:r>
            <a:r>
              <a:rPr lang="es-MX" sz="2000" dirty="0"/>
              <a:t> (set ya posee algunos </a:t>
            </a:r>
            <a:r>
              <a:rPr lang="es-MX" sz="2000" dirty="0" err="1"/>
              <a:t>templates</a:t>
            </a:r>
            <a:r>
              <a:rPr lang="es-MX" sz="2000" dirty="0"/>
              <a:t>), también tiene un </a:t>
            </a:r>
            <a:r>
              <a:rPr lang="es-MX" sz="2000" dirty="0" err="1"/>
              <a:t>Site</a:t>
            </a:r>
            <a:r>
              <a:rPr lang="es-MX" sz="2000" dirty="0"/>
              <a:t> </a:t>
            </a:r>
            <a:r>
              <a:rPr lang="es-MX" sz="2000" dirty="0" err="1"/>
              <a:t>Cloner</a:t>
            </a:r>
            <a:r>
              <a:rPr lang="es-MX" sz="2000" dirty="0"/>
              <a:t> (va a un sitio web y lo clona) si es que no está dentro de los </a:t>
            </a:r>
            <a:r>
              <a:rPr lang="es-MX" sz="2000" dirty="0" err="1"/>
              <a:t>templates</a:t>
            </a:r>
            <a:r>
              <a:rPr lang="es-MX" sz="2000" dirty="0"/>
              <a:t>, y además, hay un </a:t>
            </a:r>
            <a:r>
              <a:rPr lang="es-MX" sz="2000" dirty="0" err="1"/>
              <a:t>Custom</a:t>
            </a:r>
            <a:r>
              <a:rPr lang="es-MX" sz="2000" dirty="0"/>
              <a:t> </a:t>
            </a:r>
            <a:r>
              <a:rPr lang="es-MX" sz="2000" dirty="0" err="1"/>
              <a:t>Import</a:t>
            </a:r>
            <a:r>
              <a:rPr lang="es-MX" sz="2000" dirty="0"/>
              <a:t> en caso de que necesitemos alterar algo de un sitio web.</a:t>
            </a:r>
            <a:endParaRPr lang="es-EC" sz="2000" dirty="0"/>
          </a:p>
        </p:txBody>
      </p:sp>
      <p:pic>
        <p:nvPicPr>
          <p:cNvPr id="15364" name="Picture 4" descr="Imagen relacionad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46335" y="4551719"/>
            <a:ext cx="2286000" cy="2000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27464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a:t>A</a:t>
            </a:r>
            <a:r>
              <a:rPr lang="es-EC" b="1" dirty="0" smtClean="0"/>
              <a:t>taques </a:t>
            </a:r>
            <a:r>
              <a:rPr lang="es-EC" b="1" dirty="0"/>
              <a:t>web</a:t>
            </a:r>
            <a:endParaRPr lang="es-EC" dirty="0"/>
          </a:p>
        </p:txBody>
      </p:sp>
      <p:sp>
        <p:nvSpPr>
          <p:cNvPr id="3" name="Marcador de contenido 2"/>
          <p:cNvSpPr>
            <a:spLocks noGrp="1"/>
          </p:cNvSpPr>
          <p:nvPr>
            <p:ph idx="1"/>
          </p:nvPr>
        </p:nvSpPr>
        <p:spPr>
          <a:xfrm>
            <a:off x="2589212" y="1596980"/>
            <a:ext cx="8915400" cy="4533364"/>
          </a:xfrm>
        </p:spPr>
        <p:txBody>
          <a:bodyPr>
            <a:noAutofit/>
          </a:bodyPr>
          <a:lstStyle/>
          <a:p>
            <a:pPr algn="just"/>
            <a:r>
              <a:rPr lang="es-MX" sz="2000" dirty="0"/>
              <a:t>Web servicio o aplicación que funciona sobre internet o cualquier otra red </a:t>
            </a:r>
            <a:r>
              <a:rPr lang="es-MX" sz="2000" dirty="0" smtClean="0"/>
              <a:t>es donde se comunican </a:t>
            </a:r>
            <a:r>
              <a:rPr lang="es-MX" sz="2000" dirty="0"/>
              <a:t>datos con el modelo cliente servidor.</a:t>
            </a:r>
          </a:p>
          <a:p>
            <a:pPr algn="just"/>
            <a:r>
              <a:rPr lang="es-MX" sz="2000" dirty="0"/>
              <a:t>Modelo cliente servidor es una máquina dedicada a prestar servicios y recursos de la capacidad de cómputos para los clientes que se comuniques a ella y le soliciten un servicio.</a:t>
            </a:r>
          </a:p>
          <a:p>
            <a:pPr algn="just"/>
            <a:r>
              <a:rPr lang="es-MX" sz="2000" dirty="0"/>
              <a:t>Podemos usar diferentes ataques de </a:t>
            </a:r>
            <a:r>
              <a:rPr lang="es-MX" sz="2000" dirty="0" err="1"/>
              <a:t>servicos</a:t>
            </a:r>
            <a:r>
              <a:rPr lang="es-MX" sz="2000" dirty="0"/>
              <a:t> web como:</a:t>
            </a:r>
          </a:p>
          <a:p>
            <a:pPr marL="0" indent="0" algn="just">
              <a:buNone/>
            </a:pPr>
            <a:r>
              <a:rPr lang="es-MX" sz="2000" dirty="0"/>
              <a:t>1.Interceptar solicitudes y respuestas.(Tenemos que saber cómo funciona el sitio web tras diferentes </a:t>
            </a:r>
            <a:r>
              <a:rPr lang="es-MX" sz="2000" dirty="0" smtClean="0"/>
              <a:t>parámetros).</a:t>
            </a:r>
          </a:p>
          <a:p>
            <a:pPr marL="0" indent="0" algn="just">
              <a:buNone/>
            </a:pPr>
            <a:r>
              <a:rPr lang="es-MX" sz="2000" dirty="0" smtClean="0"/>
              <a:t>2.Listar </a:t>
            </a:r>
            <a:r>
              <a:rPr lang="es-MX" sz="2000" dirty="0"/>
              <a:t>todo el contenido de una aplicación </a:t>
            </a:r>
            <a:r>
              <a:rPr lang="es-MX" sz="2000" dirty="0" smtClean="0"/>
              <a:t>web.</a:t>
            </a:r>
          </a:p>
          <a:p>
            <a:pPr marL="0" indent="0" algn="just">
              <a:buNone/>
            </a:pPr>
            <a:r>
              <a:rPr lang="es-MX" sz="2000" dirty="0" smtClean="0"/>
              <a:t>3.Analizar </a:t>
            </a:r>
            <a:r>
              <a:rPr lang="es-MX" sz="2000" dirty="0"/>
              <a:t>vulnerabilidades de la </a:t>
            </a:r>
            <a:r>
              <a:rPr lang="es-MX" sz="2000" dirty="0" smtClean="0"/>
              <a:t>aplicación.</a:t>
            </a:r>
          </a:p>
          <a:p>
            <a:pPr marL="0" indent="0" algn="just">
              <a:buNone/>
            </a:pPr>
            <a:r>
              <a:rPr lang="es-MX" sz="2000" dirty="0" smtClean="0"/>
              <a:t>4.Modificar </a:t>
            </a:r>
            <a:r>
              <a:rPr lang="es-MX" sz="2000" dirty="0"/>
              <a:t>el funcionamiento de la aplicación web.</a:t>
            </a:r>
            <a:br>
              <a:rPr lang="es-MX" sz="2000" dirty="0"/>
            </a:br>
            <a:endParaRPr lang="es-EC" sz="2000" dirty="0"/>
          </a:p>
        </p:txBody>
      </p:sp>
    </p:spTree>
    <p:extLst>
      <p:ext uri="{BB962C8B-B14F-4D97-AF65-F5344CB8AC3E}">
        <p14:creationId xmlns:p14="http://schemas.microsoft.com/office/powerpoint/2010/main" val="7711630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a:t>Análisis de servicios web (</a:t>
            </a:r>
            <a:r>
              <a:rPr lang="es-EC" b="1" dirty="0" err="1"/>
              <a:t>Nikto</a:t>
            </a:r>
            <a:r>
              <a:rPr lang="es-EC" b="1" dirty="0"/>
              <a:t>)</a:t>
            </a:r>
            <a:endParaRPr lang="es-EC" dirty="0"/>
          </a:p>
        </p:txBody>
      </p:sp>
      <p:sp>
        <p:nvSpPr>
          <p:cNvPr id="3" name="Marcador de contenido 2"/>
          <p:cNvSpPr>
            <a:spLocks noGrp="1"/>
          </p:cNvSpPr>
          <p:nvPr>
            <p:ph idx="1"/>
          </p:nvPr>
        </p:nvSpPr>
        <p:spPr>
          <a:xfrm>
            <a:off x="2589212" y="1905000"/>
            <a:ext cx="8915400" cy="3777622"/>
          </a:xfrm>
        </p:spPr>
        <p:txBody>
          <a:bodyPr/>
          <a:lstStyle/>
          <a:p>
            <a:r>
              <a:rPr lang="es-MX" dirty="0" err="1"/>
              <a:t>nikto</a:t>
            </a:r>
            <a:r>
              <a:rPr lang="es-MX" dirty="0"/>
              <a:t>: Realiza un escaneo de vulnerabilidades contra un servicio web</a:t>
            </a:r>
            <a:r>
              <a:rPr lang="es-MX" dirty="0" smtClean="0"/>
              <a:t>.</a:t>
            </a:r>
          </a:p>
          <a:p>
            <a:r>
              <a:rPr lang="es-EC" dirty="0" err="1"/>
              <a:t>nikto</a:t>
            </a:r>
            <a:r>
              <a:rPr lang="es-EC" dirty="0"/>
              <a:t> -h &lt;</a:t>
            </a:r>
            <a:r>
              <a:rPr lang="es-EC" dirty="0" err="1"/>
              <a:t>ip_host</a:t>
            </a:r>
            <a:r>
              <a:rPr lang="es-EC" dirty="0" smtClean="0"/>
              <a:t>&gt;</a:t>
            </a:r>
          </a:p>
          <a:p>
            <a:r>
              <a:rPr lang="es-MX" dirty="0"/>
              <a:t>Cada cruz (+) corresponde a un tipo diferente de posible uso del servicio web. </a:t>
            </a:r>
            <a:endParaRPr lang="es-MX" dirty="0" smtClean="0"/>
          </a:p>
          <a:p>
            <a:r>
              <a:rPr lang="es-EC" b="1" dirty="0"/>
              <a:t>Banderas</a:t>
            </a:r>
            <a:r>
              <a:rPr lang="es-EC" dirty="0"/>
              <a:t/>
            </a:r>
            <a:br>
              <a:rPr lang="es-EC" dirty="0"/>
            </a:br>
            <a:r>
              <a:rPr lang="es-EC" dirty="0"/>
              <a:t>-h: dirección IP del host a </a:t>
            </a:r>
            <a:r>
              <a:rPr lang="es-EC" dirty="0" smtClean="0"/>
              <a:t>escanear.</a:t>
            </a:r>
            <a:endParaRPr lang="es-EC" dirty="0"/>
          </a:p>
        </p:txBody>
      </p:sp>
      <p:pic>
        <p:nvPicPr>
          <p:cNvPr id="16386" name="Picture 2" descr="Imagen relacionad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3175" y="4333313"/>
            <a:ext cx="6096000" cy="2305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71404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err="1" smtClean="0"/>
              <a:t>Webscarab</a:t>
            </a:r>
            <a:endParaRPr lang="es-EC" dirty="0"/>
          </a:p>
        </p:txBody>
      </p:sp>
      <p:sp>
        <p:nvSpPr>
          <p:cNvPr id="3" name="Marcador de contenido 2"/>
          <p:cNvSpPr>
            <a:spLocks noGrp="1"/>
          </p:cNvSpPr>
          <p:nvPr>
            <p:ph idx="1"/>
          </p:nvPr>
        </p:nvSpPr>
        <p:spPr>
          <a:xfrm>
            <a:off x="2589212" y="1631324"/>
            <a:ext cx="8915400" cy="3777622"/>
          </a:xfrm>
        </p:spPr>
        <p:txBody>
          <a:bodyPr>
            <a:normAutofit/>
          </a:bodyPr>
          <a:lstStyle/>
          <a:p>
            <a:pPr algn="just"/>
            <a:r>
              <a:rPr lang="es-MX" sz="2000" dirty="0" err="1"/>
              <a:t>Webscarab</a:t>
            </a:r>
            <a:r>
              <a:rPr lang="es-MX" sz="2000" dirty="0"/>
              <a:t>: herramienta diseñada para hacer </a:t>
            </a:r>
            <a:r>
              <a:rPr lang="es-MX" sz="2000" dirty="0" err="1"/>
              <a:t>Spidering</a:t>
            </a:r>
            <a:r>
              <a:rPr lang="es-MX" sz="2000" dirty="0"/>
              <a:t> (identificar componentes de un servicio web) e intercepción de solicitudes y </a:t>
            </a:r>
            <a:r>
              <a:rPr lang="es-MX" sz="2000" dirty="0" smtClean="0"/>
              <a:t>respuestas.</a:t>
            </a:r>
          </a:p>
          <a:p>
            <a:pPr algn="just"/>
            <a:r>
              <a:rPr lang="es-MX" sz="2000" dirty="0" smtClean="0"/>
              <a:t>Esta </a:t>
            </a:r>
            <a:r>
              <a:rPr lang="es-MX" sz="2000" dirty="0"/>
              <a:t>herramienta viene instalada por defecto en la distribución </a:t>
            </a:r>
            <a:r>
              <a:rPr lang="es-MX" sz="2000" dirty="0" err="1"/>
              <a:t>Kali</a:t>
            </a:r>
            <a:r>
              <a:rPr lang="es-MX" sz="2000" dirty="0"/>
              <a:t>.</a:t>
            </a:r>
          </a:p>
          <a:p>
            <a:pPr algn="just"/>
            <a:endParaRPr lang="es-EC" sz="2000" dirty="0"/>
          </a:p>
        </p:txBody>
      </p:sp>
      <p:pic>
        <p:nvPicPr>
          <p:cNvPr id="17410" name="Picture 2" descr="Imagen relacionad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5444" y="3353291"/>
            <a:ext cx="6876291" cy="30628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91672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err="1"/>
              <a:t>Golismero</a:t>
            </a:r>
            <a:r>
              <a:rPr lang="es-EC" b="1" dirty="0"/>
              <a:t> - OWASP</a:t>
            </a:r>
            <a:endParaRPr lang="es-EC" dirty="0"/>
          </a:p>
        </p:txBody>
      </p:sp>
      <p:sp>
        <p:nvSpPr>
          <p:cNvPr id="3" name="Marcador de contenido 2"/>
          <p:cNvSpPr>
            <a:spLocks noGrp="1"/>
          </p:cNvSpPr>
          <p:nvPr>
            <p:ph idx="1"/>
          </p:nvPr>
        </p:nvSpPr>
        <p:spPr>
          <a:xfrm>
            <a:off x="2589212" y="1751527"/>
            <a:ext cx="8915400" cy="4159695"/>
          </a:xfrm>
        </p:spPr>
        <p:txBody>
          <a:bodyPr>
            <a:noAutofit/>
          </a:bodyPr>
          <a:lstStyle/>
          <a:p>
            <a:pPr algn="just"/>
            <a:r>
              <a:rPr lang="es-MX" sz="2000" dirty="0" err="1"/>
              <a:t>Golismero</a:t>
            </a:r>
            <a:r>
              <a:rPr lang="es-MX" sz="2000" dirty="0"/>
              <a:t>: Herramienta que tiene diferentes </a:t>
            </a:r>
            <a:r>
              <a:rPr lang="es-MX" sz="2000" dirty="0" err="1"/>
              <a:t>plugins</a:t>
            </a:r>
            <a:r>
              <a:rPr lang="es-MX" sz="2000" dirty="0"/>
              <a:t> de diferentes herramientas y recursos, para poder integrar todos y realizar un </a:t>
            </a:r>
            <a:r>
              <a:rPr lang="es-MX" sz="2000" dirty="0" smtClean="0"/>
              <a:t>único </a:t>
            </a:r>
            <a:r>
              <a:rPr lang="es-MX" sz="2000" dirty="0"/>
              <a:t>reporte que incluye diferentes fuentes de </a:t>
            </a:r>
            <a:r>
              <a:rPr lang="es-MX" sz="2000" dirty="0" smtClean="0"/>
              <a:t>información </a:t>
            </a:r>
            <a:r>
              <a:rPr lang="es-MX" sz="2000" dirty="0"/>
              <a:t>sobre vulnerabilidades</a:t>
            </a:r>
            <a:r>
              <a:rPr lang="es-MX" sz="2000" dirty="0" smtClean="0"/>
              <a:t>.</a:t>
            </a:r>
          </a:p>
          <a:p>
            <a:pPr algn="just"/>
            <a:r>
              <a:rPr lang="es-EC" sz="2000" dirty="0" err="1"/>
              <a:t>golismero</a:t>
            </a:r>
            <a:r>
              <a:rPr lang="es-EC" sz="2000" dirty="0"/>
              <a:t> </a:t>
            </a:r>
            <a:r>
              <a:rPr lang="es-EC" sz="2000" dirty="0" smtClean="0"/>
              <a:t>–h : </a:t>
            </a:r>
            <a:r>
              <a:rPr lang="es-EC" sz="2000" dirty="0"/>
              <a:t>Muestra todas las </a:t>
            </a:r>
            <a:r>
              <a:rPr lang="es-EC" sz="2000" dirty="0" smtClean="0"/>
              <a:t>opciones.</a:t>
            </a:r>
          </a:p>
          <a:p>
            <a:pPr algn="just"/>
            <a:r>
              <a:rPr lang="es-EC" sz="2000" dirty="0" err="1"/>
              <a:t>golismero</a:t>
            </a:r>
            <a:r>
              <a:rPr lang="es-EC" sz="2000" dirty="0"/>
              <a:t> </a:t>
            </a:r>
            <a:r>
              <a:rPr lang="es-EC" sz="2000" dirty="0" err="1" smtClean="0"/>
              <a:t>plugins</a:t>
            </a:r>
            <a:r>
              <a:rPr lang="es-EC" sz="2000" dirty="0" smtClean="0"/>
              <a:t> : </a:t>
            </a:r>
            <a:r>
              <a:rPr lang="es-MX" sz="2000" dirty="0"/>
              <a:t>Lista los </a:t>
            </a:r>
            <a:r>
              <a:rPr lang="es-MX" sz="2000" dirty="0" err="1"/>
              <a:t>plugins</a:t>
            </a:r>
            <a:r>
              <a:rPr lang="es-MX" sz="2000" dirty="0"/>
              <a:t> instalados y disponibles en </a:t>
            </a:r>
            <a:r>
              <a:rPr lang="es-MX" sz="2000" dirty="0" err="1" smtClean="0"/>
              <a:t>golismero</a:t>
            </a:r>
            <a:r>
              <a:rPr lang="es-MX" sz="2000" dirty="0" smtClean="0"/>
              <a:t>.</a:t>
            </a:r>
          </a:p>
          <a:p>
            <a:pPr algn="just"/>
            <a:r>
              <a:rPr lang="it-IT" sz="2000" dirty="0"/>
              <a:t>golismero scan &lt;url&gt; -e &lt;plugin&gt; -</a:t>
            </a:r>
            <a:r>
              <a:rPr lang="it-IT" sz="2000" dirty="0" smtClean="0"/>
              <a:t>nd : </a:t>
            </a:r>
          </a:p>
          <a:p>
            <a:pPr algn="just">
              <a:buFont typeface="+mj-lt"/>
              <a:buAutoNum type="arabicPeriod"/>
            </a:pPr>
            <a:r>
              <a:rPr lang="es-MX" sz="2000" dirty="0"/>
              <a:t>-e: selecciono el </a:t>
            </a:r>
            <a:r>
              <a:rPr lang="es-MX" sz="2000" dirty="0" err="1"/>
              <a:t>plugin</a:t>
            </a:r>
            <a:r>
              <a:rPr lang="es-MX" sz="2000" dirty="0"/>
              <a:t> que voy a </a:t>
            </a:r>
            <a:r>
              <a:rPr lang="es-MX" sz="2000" dirty="0" smtClean="0"/>
              <a:t>utilizar.</a:t>
            </a:r>
          </a:p>
          <a:p>
            <a:pPr algn="just">
              <a:buFont typeface="+mj-lt"/>
              <a:buAutoNum type="arabicPeriod"/>
            </a:pPr>
            <a:r>
              <a:rPr lang="es-MX" sz="2000" dirty="0" smtClean="0"/>
              <a:t>-</a:t>
            </a:r>
            <a:r>
              <a:rPr lang="es-MX" sz="2000" dirty="0" err="1" smtClean="0"/>
              <a:t>nd</a:t>
            </a:r>
            <a:r>
              <a:rPr lang="es-MX" sz="2000" dirty="0"/>
              <a:t>: no almacena los resultados en una base de datos</a:t>
            </a:r>
            <a:r>
              <a:rPr lang="es-MX" sz="2000" dirty="0" smtClean="0"/>
              <a:t>.</a:t>
            </a:r>
          </a:p>
          <a:p>
            <a:pPr algn="just">
              <a:buFont typeface="+mj-lt"/>
              <a:buAutoNum type="arabicPeriod"/>
            </a:pPr>
            <a:r>
              <a:rPr lang="es-MX" sz="2000" dirty="0" smtClean="0"/>
              <a:t>-</a:t>
            </a:r>
            <a:r>
              <a:rPr lang="es-MX" sz="2000" dirty="0" err="1"/>
              <a:t>db</a:t>
            </a:r>
            <a:r>
              <a:rPr lang="es-MX" sz="2000" dirty="0"/>
              <a:t>: guarda los informes del reporte en una base de datos especifica.</a:t>
            </a:r>
            <a:endParaRPr lang="es-EC" sz="2000" dirty="0"/>
          </a:p>
        </p:txBody>
      </p:sp>
    </p:spTree>
    <p:extLst>
      <p:ext uri="{BB962C8B-B14F-4D97-AF65-F5344CB8AC3E}">
        <p14:creationId xmlns:p14="http://schemas.microsoft.com/office/powerpoint/2010/main" val="1322329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a:t>Ataques de inyección de código</a:t>
            </a:r>
            <a:endParaRPr lang="es-EC" dirty="0"/>
          </a:p>
        </p:txBody>
      </p:sp>
      <p:sp>
        <p:nvSpPr>
          <p:cNvPr id="3" name="Marcador de contenido 2"/>
          <p:cNvSpPr>
            <a:spLocks noGrp="1"/>
          </p:cNvSpPr>
          <p:nvPr>
            <p:ph idx="1"/>
          </p:nvPr>
        </p:nvSpPr>
        <p:spPr>
          <a:xfrm>
            <a:off x="2589212" y="1669961"/>
            <a:ext cx="8915400" cy="3777622"/>
          </a:xfrm>
        </p:spPr>
        <p:txBody>
          <a:bodyPr>
            <a:noAutofit/>
          </a:bodyPr>
          <a:lstStyle/>
          <a:p>
            <a:pPr algn="just"/>
            <a:r>
              <a:rPr lang="es-MX" sz="2000" dirty="0" err="1"/>
              <a:t>Damn</a:t>
            </a:r>
            <a:r>
              <a:rPr lang="es-MX" sz="2000" dirty="0"/>
              <a:t> Vulnerable Web App (DVWA): Aplicación web muy vulnerable, hecha </a:t>
            </a:r>
            <a:r>
              <a:rPr lang="es-MX" sz="2000" dirty="0" smtClean="0"/>
              <a:t>a </a:t>
            </a:r>
            <a:r>
              <a:rPr lang="es-MX" sz="2000" dirty="0" err="1" smtClean="0"/>
              <a:t>próposito</a:t>
            </a:r>
            <a:r>
              <a:rPr lang="es-MX" sz="2000" dirty="0" smtClean="0"/>
              <a:t> </a:t>
            </a:r>
            <a:r>
              <a:rPr lang="es-MX" sz="2000" dirty="0"/>
              <a:t>para aprovecharnos de sus vulnerabilidades.</a:t>
            </a:r>
          </a:p>
          <a:p>
            <a:pPr algn="just"/>
            <a:r>
              <a:rPr lang="es-MX" sz="2000" dirty="0"/>
              <a:t>DVWA Security: tiene varios niveles de seguridad para poder ir aprendiendo. </a:t>
            </a:r>
            <a:endParaRPr lang="es-MX" sz="2000" dirty="0" smtClean="0"/>
          </a:p>
          <a:p>
            <a:pPr algn="just"/>
            <a:r>
              <a:rPr lang="es-MX" sz="2000" dirty="0" smtClean="0"/>
              <a:t>Línea </a:t>
            </a:r>
            <a:r>
              <a:rPr lang="es-MX" sz="2000" dirty="0"/>
              <a:t>de consulta SQL común:</a:t>
            </a:r>
          </a:p>
          <a:p>
            <a:pPr marL="0" indent="0" algn="just">
              <a:buNone/>
            </a:pPr>
            <a:r>
              <a:rPr lang="en-US" sz="2000" dirty="0" smtClean="0"/>
              <a:t>	SELECT </a:t>
            </a:r>
            <a:r>
              <a:rPr lang="en-US" sz="2000" dirty="0" err="1"/>
              <a:t>first_name</a:t>
            </a:r>
            <a:r>
              <a:rPr lang="en-US" sz="2000" dirty="0"/>
              <a:t>, </a:t>
            </a:r>
            <a:r>
              <a:rPr lang="en-US" sz="2000" dirty="0" err="1"/>
              <a:t>last_name</a:t>
            </a:r>
            <a:r>
              <a:rPr lang="en-US" sz="2000" dirty="0"/>
              <a:t> FROM users WHERE </a:t>
            </a:r>
            <a:r>
              <a:rPr lang="en-US" sz="2000" dirty="0" err="1"/>
              <a:t>user_id</a:t>
            </a:r>
            <a:r>
              <a:rPr lang="en-US" sz="2000" dirty="0"/>
              <a:t> = '%' or '0' </a:t>
            </a:r>
            <a:r>
              <a:rPr lang="en-US" sz="2000" dirty="0" smtClean="0"/>
              <a:t>	= '0‘</a:t>
            </a:r>
          </a:p>
          <a:p>
            <a:pPr marL="0" indent="0" algn="just">
              <a:buNone/>
            </a:pPr>
            <a:r>
              <a:rPr lang="es-MX" sz="2000" dirty="0" smtClean="0"/>
              <a:t>	En </a:t>
            </a:r>
            <a:r>
              <a:rPr lang="es-MX" sz="2000" dirty="0"/>
              <a:t>este caso el % </a:t>
            </a:r>
            <a:r>
              <a:rPr lang="es-MX" sz="2000" dirty="0" smtClean="0"/>
              <a:t>actúa </a:t>
            </a:r>
            <a:r>
              <a:rPr lang="es-MX" sz="2000" dirty="0"/>
              <a:t>como un comodín, acepta todo.</a:t>
            </a:r>
          </a:p>
          <a:p>
            <a:pPr marL="0" indent="0" algn="just">
              <a:buNone/>
            </a:pPr>
            <a:r>
              <a:rPr lang="es-MX" sz="2000" dirty="0" smtClean="0"/>
              <a:t>	Por </a:t>
            </a:r>
            <a:r>
              <a:rPr lang="es-MX" sz="2000" dirty="0"/>
              <a:t>lo tanto </a:t>
            </a:r>
            <a:r>
              <a:rPr lang="es-MX" sz="2000" dirty="0" smtClean="0"/>
              <a:t>tendríamos </a:t>
            </a:r>
            <a:r>
              <a:rPr lang="es-MX" sz="2000" dirty="0"/>
              <a:t>que enviarle a la </a:t>
            </a:r>
            <a:r>
              <a:rPr lang="es-MX" sz="2000" dirty="0" smtClean="0"/>
              <a:t>solicitud.</a:t>
            </a:r>
            <a:endParaRPr lang="es-MX" sz="2000" dirty="0"/>
          </a:p>
          <a:p>
            <a:pPr marL="0" indent="0" algn="just">
              <a:buNone/>
            </a:pPr>
            <a:r>
              <a:rPr lang="es-EC" sz="2000" dirty="0" smtClean="0"/>
              <a:t>	%' </a:t>
            </a:r>
            <a:r>
              <a:rPr lang="es-EC" sz="2000" dirty="0" err="1"/>
              <a:t>or</a:t>
            </a:r>
            <a:r>
              <a:rPr lang="es-EC" sz="2000" dirty="0"/>
              <a:t> '0' = </a:t>
            </a:r>
            <a:r>
              <a:rPr lang="es-EC" sz="2000" dirty="0" smtClean="0"/>
              <a:t>'0’</a:t>
            </a:r>
          </a:p>
          <a:p>
            <a:pPr marL="0" indent="0" algn="just">
              <a:buNone/>
            </a:pPr>
            <a:r>
              <a:rPr lang="es-MX" sz="2000" dirty="0" smtClean="0"/>
              <a:t>	Y </a:t>
            </a:r>
            <a:r>
              <a:rPr lang="es-MX" sz="2000" dirty="0"/>
              <a:t>nos mostrará todos los datos de la DB.</a:t>
            </a:r>
            <a:endParaRPr lang="es-EC" sz="2000" dirty="0"/>
          </a:p>
        </p:txBody>
      </p:sp>
    </p:spTree>
    <p:extLst>
      <p:ext uri="{BB962C8B-B14F-4D97-AF65-F5344CB8AC3E}">
        <p14:creationId xmlns:p14="http://schemas.microsoft.com/office/powerpoint/2010/main" val="3450446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589212" y="1558344"/>
            <a:ext cx="8915400" cy="4352878"/>
          </a:xfrm>
        </p:spPr>
        <p:txBody>
          <a:bodyPr>
            <a:normAutofit/>
          </a:bodyPr>
          <a:lstStyle/>
          <a:p>
            <a:pPr marL="0" indent="0" algn="just">
              <a:buNone/>
            </a:pPr>
            <a:r>
              <a:rPr lang="es-EC" sz="2000" b="1" dirty="0" smtClean="0"/>
              <a:t>Comandos:</a:t>
            </a:r>
          </a:p>
          <a:p>
            <a:pPr algn="just"/>
            <a:r>
              <a:rPr lang="es-EC" sz="2000" b="1" dirty="0" smtClean="0"/>
              <a:t> </a:t>
            </a:r>
            <a:r>
              <a:rPr lang="es-EC" sz="2000" dirty="0" err="1"/>
              <a:t>version</a:t>
            </a:r>
            <a:r>
              <a:rPr lang="es-EC" sz="2000" dirty="0" smtClean="0"/>
              <a:t>(): </a:t>
            </a:r>
            <a:r>
              <a:rPr lang="es-MX" sz="2000" dirty="0"/>
              <a:t>Nos dice la versión de MySQL que se ejecuta</a:t>
            </a:r>
            <a:r>
              <a:rPr lang="es-MX" sz="2000" dirty="0" smtClean="0"/>
              <a:t>.</a:t>
            </a:r>
          </a:p>
          <a:p>
            <a:pPr algn="just"/>
            <a:r>
              <a:rPr lang="es-EC" sz="2000" dirty="0" err="1"/>
              <a:t>user</a:t>
            </a:r>
            <a:r>
              <a:rPr lang="es-EC" sz="2000" dirty="0" smtClean="0"/>
              <a:t>(): </a:t>
            </a:r>
            <a:r>
              <a:rPr lang="es-MX" sz="2000" dirty="0"/>
              <a:t>Nos dice cual es el usuario que esta ejecutando la </a:t>
            </a:r>
            <a:r>
              <a:rPr lang="es-MX" sz="2000" dirty="0" smtClean="0"/>
              <a:t>aplicación.</a:t>
            </a:r>
          </a:p>
          <a:p>
            <a:pPr algn="just"/>
            <a:r>
              <a:rPr lang="es-EC" sz="2000" dirty="0" err="1"/>
              <a:t>database</a:t>
            </a:r>
            <a:r>
              <a:rPr lang="es-EC" sz="2000" dirty="0" smtClean="0"/>
              <a:t>(): </a:t>
            </a:r>
            <a:r>
              <a:rPr lang="es-MX" sz="2000" dirty="0"/>
              <a:t>Nos dice el nombre de la base de </a:t>
            </a:r>
            <a:r>
              <a:rPr lang="es-MX" sz="2000" dirty="0" smtClean="0"/>
              <a:t>datos.</a:t>
            </a:r>
          </a:p>
          <a:p>
            <a:pPr algn="just"/>
            <a:r>
              <a:rPr lang="es-EC" sz="2000" dirty="0" err="1"/>
              <a:t>table_name</a:t>
            </a:r>
            <a:r>
              <a:rPr lang="es-EC" sz="2000" dirty="0"/>
              <a:t> </a:t>
            </a:r>
            <a:r>
              <a:rPr lang="es-EC" sz="2000" dirty="0" err="1"/>
              <a:t>from</a:t>
            </a:r>
            <a:r>
              <a:rPr lang="es-EC" sz="2000" dirty="0"/>
              <a:t> </a:t>
            </a:r>
            <a:r>
              <a:rPr lang="es-EC" sz="2000" dirty="0" err="1" smtClean="0"/>
              <a:t>information_schema.tables</a:t>
            </a:r>
            <a:r>
              <a:rPr lang="es-EC" sz="2000" dirty="0" smtClean="0"/>
              <a:t> : </a:t>
            </a:r>
            <a:r>
              <a:rPr lang="es-MX" sz="2000" dirty="0"/>
              <a:t>nos trae el nombre de todas las tablas de </a:t>
            </a:r>
            <a:r>
              <a:rPr lang="es-MX" sz="2000" dirty="0" err="1"/>
              <a:t>information_schema.tables</a:t>
            </a:r>
            <a:r>
              <a:rPr lang="es-MX" sz="2000" dirty="0" smtClean="0"/>
              <a:t>.</a:t>
            </a:r>
          </a:p>
          <a:p>
            <a:pPr algn="just"/>
            <a:r>
              <a:rPr lang="en-US" sz="2000" dirty="0" err="1"/>
              <a:t>table_name</a:t>
            </a:r>
            <a:r>
              <a:rPr lang="en-US" sz="2000" dirty="0"/>
              <a:t> from </a:t>
            </a:r>
            <a:r>
              <a:rPr lang="en-US" sz="2000" dirty="0" err="1"/>
              <a:t>information_schema.tables</a:t>
            </a:r>
            <a:r>
              <a:rPr lang="en-US" sz="2000" dirty="0"/>
              <a:t> WHERE </a:t>
            </a:r>
            <a:r>
              <a:rPr lang="en-US" sz="2000" dirty="0" err="1" smtClean="0"/>
              <a:t>table_name</a:t>
            </a:r>
            <a:r>
              <a:rPr lang="en-US" sz="2000" dirty="0" smtClean="0"/>
              <a:t> </a:t>
            </a:r>
            <a:r>
              <a:rPr lang="en-US" sz="2000" dirty="0"/>
              <a:t>like 'user</a:t>
            </a:r>
            <a:r>
              <a:rPr lang="en-US" sz="2000" dirty="0" smtClean="0"/>
              <a:t>%‘ : </a:t>
            </a:r>
            <a:r>
              <a:rPr lang="es-MX" sz="2000" dirty="0"/>
              <a:t>nos trae los nombres de las tablas con posible </a:t>
            </a:r>
            <a:r>
              <a:rPr lang="es-MX" sz="2000" dirty="0" err="1"/>
              <a:t>informacion</a:t>
            </a:r>
            <a:r>
              <a:rPr lang="es-MX" sz="2000" dirty="0"/>
              <a:t> sensible sobre usuarios</a:t>
            </a:r>
            <a:r>
              <a:rPr lang="es-MX" sz="2000" dirty="0" smtClean="0"/>
              <a:t>.</a:t>
            </a:r>
          </a:p>
          <a:p>
            <a:pPr algn="just"/>
            <a:endParaRPr lang="es-EC" sz="2000" b="1" dirty="0"/>
          </a:p>
        </p:txBody>
      </p:sp>
    </p:spTree>
    <p:extLst>
      <p:ext uri="{BB962C8B-B14F-4D97-AF65-F5344CB8AC3E}">
        <p14:creationId xmlns:p14="http://schemas.microsoft.com/office/powerpoint/2010/main" val="24479996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a:t>Ataques XSS</a:t>
            </a:r>
            <a:endParaRPr lang="es-EC" dirty="0"/>
          </a:p>
        </p:txBody>
      </p:sp>
      <p:sp>
        <p:nvSpPr>
          <p:cNvPr id="3" name="Marcador de contenido 2"/>
          <p:cNvSpPr>
            <a:spLocks noGrp="1"/>
          </p:cNvSpPr>
          <p:nvPr>
            <p:ph idx="1"/>
          </p:nvPr>
        </p:nvSpPr>
        <p:spPr>
          <a:xfrm>
            <a:off x="2592925" y="3563154"/>
            <a:ext cx="8915400" cy="2953555"/>
          </a:xfrm>
        </p:spPr>
        <p:txBody>
          <a:bodyPr>
            <a:normAutofit/>
          </a:bodyPr>
          <a:lstStyle/>
          <a:p>
            <a:pPr algn="just"/>
            <a:r>
              <a:rPr lang="es-MX" sz="2000" dirty="0"/>
              <a:t>E</a:t>
            </a:r>
            <a:r>
              <a:rPr lang="es-MX" sz="2000" dirty="0" smtClean="0"/>
              <a:t>s </a:t>
            </a:r>
            <a:r>
              <a:rPr lang="es-MX" sz="2000" dirty="0"/>
              <a:t>un tipo de vulnerabilidad informática o agujero de seguridad típico de las aplicaciones Web, que puede permitir a una tercera persona inyectar en páginas web visitadas por el usuario código </a:t>
            </a:r>
            <a:r>
              <a:rPr lang="es-MX" sz="2000" dirty="0" smtClean="0"/>
              <a:t>JavaScript</a:t>
            </a:r>
            <a:r>
              <a:rPr lang="es-MX" sz="2000" dirty="0"/>
              <a:t> o en otro lenguaje </a:t>
            </a:r>
            <a:r>
              <a:rPr lang="es-MX" sz="2000" dirty="0" smtClean="0"/>
              <a:t>similar.</a:t>
            </a:r>
          </a:p>
          <a:p>
            <a:pPr algn="just"/>
            <a:r>
              <a:rPr lang="es-MX" sz="2000" dirty="0" err="1" smtClean="0"/>
              <a:t>CrossSite</a:t>
            </a:r>
            <a:r>
              <a:rPr lang="es-MX" sz="2000" dirty="0" smtClean="0"/>
              <a:t> Scripting(XSS): se </a:t>
            </a:r>
            <a:r>
              <a:rPr lang="es-MX" sz="2000" dirty="0"/>
              <a:t>inserta código que va a ser ejecutado y que cada vez que alguien mas ingrese </a:t>
            </a:r>
            <a:r>
              <a:rPr lang="es-MX" sz="2000" dirty="0" smtClean="0"/>
              <a:t>también </a:t>
            </a:r>
            <a:r>
              <a:rPr lang="es-MX" sz="2000" dirty="0"/>
              <a:t>va a ser ejecutado. El servidor guarda el código y cuando lo muestra, puede ejecutar código JS o HTML</a:t>
            </a:r>
            <a:r>
              <a:rPr lang="es-MX" sz="2000" dirty="0" smtClean="0"/>
              <a:t>.</a:t>
            </a:r>
          </a:p>
          <a:p>
            <a:pPr algn="just"/>
            <a:endParaRPr lang="es-EC" sz="2000" dirty="0"/>
          </a:p>
        </p:txBody>
      </p:sp>
      <p:pic>
        <p:nvPicPr>
          <p:cNvPr id="18436" name="Picture 4" descr="Resultado de imagen para xs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31932" y="624110"/>
            <a:ext cx="5639515" cy="2597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52250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a:t>ZED </a:t>
            </a:r>
            <a:r>
              <a:rPr lang="es-MX" b="1" dirty="0" err="1"/>
              <a:t>Attack</a:t>
            </a:r>
            <a:r>
              <a:rPr lang="es-MX" b="1" dirty="0"/>
              <a:t> </a:t>
            </a:r>
            <a:r>
              <a:rPr lang="es-MX" b="1" dirty="0" smtClean="0"/>
              <a:t>Proxy</a:t>
            </a:r>
            <a:endParaRPr lang="es-EC" dirty="0"/>
          </a:p>
        </p:txBody>
      </p:sp>
      <p:sp>
        <p:nvSpPr>
          <p:cNvPr id="3" name="Marcador de contenido 2"/>
          <p:cNvSpPr>
            <a:spLocks noGrp="1"/>
          </p:cNvSpPr>
          <p:nvPr>
            <p:ph idx="1"/>
          </p:nvPr>
        </p:nvSpPr>
        <p:spPr>
          <a:xfrm>
            <a:off x="2589212" y="3524699"/>
            <a:ext cx="8915400" cy="3333301"/>
          </a:xfrm>
        </p:spPr>
        <p:txBody>
          <a:bodyPr>
            <a:normAutofit/>
          </a:bodyPr>
          <a:lstStyle/>
          <a:p>
            <a:pPr algn="just"/>
            <a:r>
              <a:rPr lang="es-MX" sz="2000" dirty="0"/>
              <a:t>ZED </a:t>
            </a:r>
            <a:r>
              <a:rPr lang="es-MX" sz="2000" dirty="0" err="1"/>
              <a:t>Attack</a:t>
            </a:r>
            <a:r>
              <a:rPr lang="es-MX" sz="2000" dirty="0"/>
              <a:t> Proxy (ZAP): herramienta desarrollada por OWASP(proyecto de código abierto colaborativo para análisis de vulnerabilidades, errores y auditoria web),</a:t>
            </a:r>
            <a:br>
              <a:rPr lang="es-MX" sz="2000" dirty="0"/>
            </a:br>
            <a:r>
              <a:rPr lang="es-MX" sz="2000" dirty="0"/>
              <a:t>ZAP viene preinstalada en </a:t>
            </a:r>
            <a:r>
              <a:rPr lang="es-MX" sz="2000" dirty="0" err="1" smtClean="0"/>
              <a:t>Kali</a:t>
            </a:r>
            <a:r>
              <a:rPr lang="es-MX" sz="2000" dirty="0" smtClean="0"/>
              <a:t>.</a:t>
            </a:r>
          </a:p>
          <a:p>
            <a:pPr algn="just"/>
            <a:r>
              <a:rPr lang="es-MX" sz="2000" dirty="0" smtClean="0"/>
              <a:t>Se </a:t>
            </a:r>
            <a:r>
              <a:rPr lang="es-MX" sz="2000" dirty="0"/>
              <a:t>utiliza un proxy destinado al puerto 8080.</a:t>
            </a:r>
          </a:p>
          <a:p>
            <a:pPr algn="just"/>
            <a:r>
              <a:rPr lang="es-MX" sz="2000" dirty="0"/>
              <a:t>Esta herramienta tiene la posibilidad de hacer </a:t>
            </a:r>
            <a:r>
              <a:rPr lang="es-MX" sz="2000" dirty="0" err="1"/>
              <a:t>Spidering</a:t>
            </a:r>
            <a:r>
              <a:rPr lang="es-MX" sz="2000" dirty="0"/>
              <a:t>(armar el </a:t>
            </a:r>
            <a:r>
              <a:rPr lang="es-MX" sz="2000" dirty="0" smtClean="0"/>
              <a:t>árbol </a:t>
            </a:r>
            <a:r>
              <a:rPr lang="es-MX" sz="2000" dirty="0"/>
              <a:t>completo de la pagina web), intercepciones (de solicitudes y respuestas) y escaneos (con el Quick </a:t>
            </a:r>
            <a:r>
              <a:rPr lang="es-MX" sz="2000" dirty="0" err="1"/>
              <a:t>Start</a:t>
            </a:r>
            <a:r>
              <a:rPr lang="es-MX" sz="2000" dirty="0"/>
              <a:t> de la GUI de ZAP</a:t>
            </a:r>
            <a:r>
              <a:rPr lang="es-MX" sz="2000" dirty="0" smtClean="0"/>
              <a:t>).</a:t>
            </a:r>
            <a:endParaRPr lang="es-MX" sz="2000" dirty="0"/>
          </a:p>
          <a:p>
            <a:pPr algn="just"/>
            <a:endParaRPr lang="es-EC" sz="2000" dirty="0"/>
          </a:p>
        </p:txBody>
      </p:sp>
      <p:pic>
        <p:nvPicPr>
          <p:cNvPr id="19460" name="Picture 4" descr="Resultado de imagen para zed attack prox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6912" y="280430"/>
            <a:ext cx="3810000" cy="3057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19327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err="1"/>
              <a:t>Meterpreter</a:t>
            </a:r>
            <a:endParaRPr lang="es-EC" dirty="0"/>
          </a:p>
        </p:txBody>
      </p:sp>
      <p:sp>
        <p:nvSpPr>
          <p:cNvPr id="3" name="Marcador de contenido 2"/>
          <p:cNvSpPr>
            <a:spLocks noGrp="1"/>
          </p:cNvSpPr>
          <p:nvPr>
            <p:ph idx="1"/>
          </p:nvPr>
        </p:nvSpPr>
        <p:spPr>
          <a:xfrm>
            <a:off x="2483195" y="1537389"/>
            <a:ext cx="8915400" cy="3889239"/>
          </a:xfrm>
        </p:spPr>
        <p:txBody>
          <a:bodyPr>
            <a:normAutofit/>
          </a:bodyPr>
          <a:lstStyle/>
          <a:p>
            <a:pPr algn="just"/>
            <a:r>
              <a:rPr lang="es-MX" sz="2000" dirty="0"/>
              <a:t>E</a:t>
            </a:r>
            <a:r>
              <a:rPr lang="es-MX" sz="2000" dirty="0" smtClean="0"/>
              <a:t>s </a:t>
            </a:r>
            <a:r>
              <a:rPr lang="es-MX" sz="2000" dirty="0"/>
              <a:t>un </a:t>
            </a:r>
            <a:r>
              <a:rPr lang="es-MX" sz="2000" dirty="0" err="1"/>
              <a:t>Payload</a:t>
            </a:r>
            <a:r>
              <a:rPr lang="es-MX" sz="2000" dirty="0"/>
              <a:t> que se ejecuta después del proceso de explotación o abuso de una vulnerabilidad en un sistema operativo, </a:t>
            </a:r>
            <a:r>
              <a:rPr lang="es-MX" sz="2000" dirty="0" err="1" smtClean="0"/>
              <a:t>meterpreter</a:t>
            </a:r>
            <a:r>
              <a:rPr lang="es-MX" sz="2000" dirty="0" smtClean="0"/>
              <a:t> es </a:t>
            </a:r>
            <a:r>
              <a:rPr lang="es-MX" sz="2000" dirty="0"/>
              <a:t>el diminutivo para meta-interprete y se ejecuta completamente en memoria; evitando así tener problemas con los Antivirus</a:t>
            </a:r>
            <a:r>
              <a:rPr lang="es-MX" sz="2000" dirty="0" smtClean="0"/>
              <a:t>.</a:t>
            </a:r>
          </a:p>
          <a:p>
            <a:pPr algn="just"/>
            <a:r>
              <a:rPr lang="es-MX" sz="2000" dirty="0"/>
              <a:t>En el </a:t>
            </a:r>
            <a:r>
              <a:rPr lang="es-MX" sz="2000" dirty="0" err="1"/>
              <a:t>prompt</a:t>
            </a:r>
            <a:r>
              <a:rPr lang="es-MX" sz="2000" dirty="0"/>
              <a:t> del </a:t>
            </a:r>
            <a:r>
              <a:rPr lang="es-MX" sz="2000" dirty="0" err="1"/>
              <a:t>meterpreter</a:t>
            </a:r>
            <a:r>
              <a:rPr lang="es-MX" sz="2000" dirty="0"/>
              <a:t> los comandos locales se ejecutan con </a:t>
            </a:r>
            <a:r>
              <a:rPr lang="es-MX" sz="2000" dirty="0" smtClean="0"/>
              <a:t>1 al principio (</a:t>
            </a:r>
            <a:r>
              <a:rPr lang="es-EC" sz="2000" dirty="0"/>
              <a:t>1</a:t>
            </a:r>
            <a:r>
              <a:rPr lang="es-EC" sz="2000" dirty="0" smtClean="0"/>
              <a:t>cd, 1pwd).</a:t>
            </a:r>
          </a:p>
          <a:p>
            <a:pPr algn="just"/>
            <a:endParaRPr lang="es-EC" sz="2000" dirty="0"/>
          </a:p>
        </p:txBody>
      </p:sp>
      <p:pic>
        <p:nvPicPr>
          <p:cNvPr id="20482" name="Picture 2" descr="Resultado de imagen para meterprete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30817" y="4012096"/>
            <a:ext cx="6036036" cy="24974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74737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589212" y="1481071"/>
            <a:ext cx="8915400" cy="4236968"/>
          </a:xfrm>
        </p:spPr>
        <p:txBody>
          <a:bodyPr>
            <a:noAutofit/>
          </a:bodyPr>
          <a:lstStyle/>
          <a:p>
            <a:pPr marL="0" indent="0" algn="just">
              <a:buNone/>
            </a:pPr>
            <a:r>
              <a:rPr lang="es-EC" sz="2000" b="1" dirty="0" smtClean="0"/>
              <a:t>Comandos: </a:t>
            </a:r>
          </a:p>
          <a:p>
            <a:pPr algn="just"/>
            <a:r>
              <a:rPr lang="es-EC" sz="2000" dirty="0" err="1"/>
              <a:t>upload</a:t>
            </a:r>
            <a:r>
              <a:rPr lang="es-EC" sz="2000" dirty="0"/>
              <a:t> &lt;archivo&gt; &lt;directorio&gt; : </a:t>
            </a:r>
            <a:r>
              <a:rPr lang="es-MX" sz="2000" dirty="0"/>
              <a:t>Para subir el archivo para ejecutar el </a:t>
            </a:r>
            <a:r>
              <a:rPr lang="es-MX" sz="2000" dirty="0" err="1"/>
              <a:t>backdoor</a:t>
            </a:r>
            <a:r>
              <a:rPr lang="es-MX" sz="2000" dirty="0"/>
              <a:t>, usamos el comando .</a:t>
            </a:r>
          </a:p>
          <a:p>
            <a:pPr algn="just"/>
            <a:r>
              <a:rPr lang="es-EC" sz="2000" dirty="0" err="1"/>
              <a:t>execute</a:t>
            </a:r>
            <a:r>
              <a:rPr lang="es-EC" sz="2000" dirty="0"/>
              <a:t> &lt;archivo&gt; : </a:t>
            </a:r>
            <a:r>
              <a:rPr lang="es-MX" sz="2000" dirty="0"/>
              <a:t>Ejecuta el programa sin mostrar al usuario que se esta instalando por detrás.</a:t>
            </a:r>
          </a:p>
          <a:p>
            <a:pPr algn="just"/>
            <a:r>
              <a:rPr lang="es-EC" sz="2000" dirty="0" err="1"/>
              <a:t>g</a:t>
            </a:r>
            <a:r>
              <a:rPr lang="es-EC" sz="2000" dirty="0" err="1" smtClean="0"/>
              <a:t>etuid</a:t>
            </a:r>
            <a:r>
              <a:rPr lang="es-EC" sz="2000" dirty="0" smtClean="0"/>
              <a:t>: </a:t>
            </a:r>
            <a:r>
              <a:rPr lang="es-MX" sz="2000" dirty="0"/>
              <a:t>permite saber que usuario estoy accediendo. y que permisos </a:t>
            </a:r>
            <a:r>
              <a:rPr lang="es-MX" sz="2000" dirty="0" smtClean="0"/>
              <a:t>tengo.</a:t>
            </a:r>
          </a:p>
          <a:p>
            <a:pPr algn="just"/>
            <a:r>
              <a:rPr lang="es-EC" sz="2000" dirty="0" err="1"/>
              <a:t>d</a:t>
            </a:r>
            <a:r>
              <a:rPr lang="es-EC" sz="2000" dirty="0" err="1" smtClean="0"/>
              <a:t>ownload</a:t>
            </a:r>
            <a:r>
              <a:rPr lang="es-EC" sz="2000" dirty="0" smtClean="0"/>
              <a:t> : </a:t>
            </a:r>
            <a:r>
              <a:rPr lang="es-MX" sz="2000" dirty="0"/>
              <a:t>permite bajar los archivos de la maquina </a:t>
            </a:r>
            <a:r>
              <a:rPr lang="es-MX" sz="2000" dirty="0" smtClean="0"/>
              <a:t>host.</a:t>
            </a:r>
          </a:p>
          <a:p>
            <a:pPr algn="just"/>
            <a:r>
              <a:rPr lang="es-EC" sz="2000" dirty="0" err="1"/>
              <a:t>p</a:t>
            </a:r>
            <a:r>
              <a:rPr lang="es-EC" sz="2000" dirty="0" err="1" smtClean="0"/>
              <a:t>s</a:t>
            </a:r>
            <a:r>
              <a:rPr lang="es-EC" sz="2000" dirty="0" smtClean="0"/>
              <a:t> : </a:t>
            </a:r>
            <a:r>
              <a:rPr lang="es-EC" sz="2000" dirty="0"/>
              <a:t>procesos que se </a:t>
            </a:r>
            <a:r>
              <a:rPr lang="es-EC" sz="2000" dirty="0" smtClean="0"/>
              <a:t>ejecutan.</a:t>
            </a:r>
          </a:p>
          <a:p>
            <a:pPr algn="just"/>
            <a:r>
              <a:rPr lang="es-EC" sz="2000" dirty="0" err="1"/>
              <a:t>migrate</a:t>
            </a:r>
            <a:r>
              <a:rPr lang="es-EC" sz="2000" dirty="0"/>
              <a:t> &lt;</a:t>
            </a:r>
            <a:r>
              <a:rPr lang="es-EC" sz="2000" dirty="0" err="1"/>
              <a:t>pid</a:t>
            </a:r>
            <a:r>
              <a:rPr lang="es-EC" sz="2000" dirty="0" smtClean="0"/>
              <a:t>&gt; : </a:t>
            </a:r>
            <a:r>
              <a:rPr lang="es-MX" sz="2000" dirty="0"/>
              <a:t>modifica el proceso para disfrazar el </a:t>
            </a:r>
            <a:r>
              <a:rPr lang="es-MX" sz="2000" dirty="0" err="1" smtClean="0"/>
              <a:t>meterpreter</a:t>
            </a:r>
            <a:r>
              <a:rPr lang="es-MX" sz="2000" dirty="0" smtClean="0"/>
              <a:t>.</a:t>
            </a:r>
            <a:endParaRPr lang="es-EC" sz="2000" dirty="0" smtClean="0"/>
          </a:p>
          <a:p>
            <a:pPr algn="just"/>
            <a:endParaRPr lang="es-EC" sz="2000" dirty="0"/>
          </a:p>
        </p:txBody>
      </p:sp>
    </p:spTree>
    <p:extLst>
      <p:ext uri="{BB962C8B-B14F-4D97-AF65-F5344CB8AC3E}">
        <p14:creationId xmlns:p14="http://schemas.microsoft.com/office/powerpoint/2010/main" val="5647097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err="1"/>
              <a:t>NetCat</a:t>
            </a:r>
            <a:endParaRPr lang="es-EC" dirty="0"/>
          </a:p>
        </p:txBody>
      </p:sp>
      <p:sp>
        <p:nvSpPr>
          <p:cNvPr id="3" name="Marcador de contenido 2"/>
          <p:cNvSpPr>
            <a:spLocks noGrp="1"/>
          </p:cNvSpPr>
          <p:nvPr>
            <p:ph idx="1"/>
          </p:nvPr>
        </p:nvSpPr>
        <p:spPr>
          <a:xfrm>
            <a:off x="2589212" y="1698938"/>
            <a:ext cx="8915400" cy="4006222"/>
          </a:xfrm>
        </p:spPr>
        <p:txBody>
          <a:bodyPr>
            <a:noAutofit/>
          </a:bodyPr>
          <a:lstStyle/>
          <a:p>
            <a:pPr marL="0" indent="0" algn="just">
              <a:buNone/>
            </a:pPr>
            <a:r>
              <a:rPr lang="es-MX" sz="2000" dirty="0" err="1"/>
              <a:t>Netcat</a:t>
            </a:r>
            <a:r>
              <a:rPr lang="es-MX" sz="2000" dirty="0"/>
              <a:t>: herramienta que permite que haya </a:t>
            </a:r>
            <a:r>
              <a:rPr lang="es-MX" sz="2000" dirty="0" err="1"/>
              <a:t>conexion</a:t>
            </a:r>
            <a:r>
              <a:rPr lang="es-MX" sz="2000" dirty="0"/>
              <a:t> entre dos maquinas a través de un puerto abierto</a:t>
            </a:r>
            <a:r>
              <a:rPr lang="es-MX" sz="2000" dirty="0" smtClean="0"/>
              <a:t>.</a:t>
            </a:r>
          </a:p>
          <a:p>
            <a:pPr algn="just"/>
            <a:r>
              <a:rPr lang="es-EC" sz="2000" dirty="0" err="1"/>
              <a:t>ssh</a:t>
            </a:r>
            <a:r>
              <a:rPr lang="es-EC" sz="2000" dirty="0"/>
              <a:t> &lt;usuario&gt;@&lt;</a:t>
            </a:r>
            <a:r>
              <a:rPr lang="es-EC" sz="2000" dirty="0" err="1"/>
              <a:t>ip_address</a:t>
            </a:r>
            <a:r>
              <a:rPr lang="es-EC" sz="2000" dirty="0" smtClean="0"/>
              <a:t>&gt; : </a:t>
            </a:r>
            <a:r>
              <a:rPr lang="es-EC" sz="2000" dirty="0"/>
              <a:t>Para inicializar la maquina remota</a:t>
            </a:r>
            <a:r>
              <a:rPr lang="es-EC" sz="2000" dirty="0" smtClean="0"/>
              <a:t>.</a:t>
            </a:r>
          </a:p>
          <a:p>
            <a:pPr algn="just"/>
            <a:r>
              <a:rPr lang="es-EC" sz="2000" dirty="0" err="1"/>
              <a:t>nc</a:t>
            </a:r>
            <a:r>
              <a:rPr lang="es-EC" sz="2000" dirty="0"/>
              <a:t> -l -p &lt;</a:t>
            </a:r>
            <a:r>
              <a:rPr lang="es-EC" sz="2000" dirty="0" err="1"/>
              <a:t>nro_puerto</a:t>
            </a:r>
            <a:r>
              <a:rPr lang="es-EC" sz="2000" dirty="0" smtClean="0"/>
              <a:t>&gt; : </a:t>
            </a:r>
            <a:r>
              <a:rPr lang="es-MX" sz="2000" dirty="0"/>
              <a:t>Abro el puerto de escucha en la maquina destino.</a:t>
            </a:r>
          </a:p>
          <a:p>
            <a:pPr algn="just"/>
            <a:r>
              <a:rPr lang="es-MX" sz="2000" dirty="0" smtClean="0"/>
              <a:t>-l : </a:t>
            </a:r>
            <a:r>
              <a:rPr lang="es-EC" sz="2000" dirty="0"/>
              <a:t>modo </a:t>
            </a:r>
            <a:r>
              <a:rPr lang="es-EC" sz="2000" dirty="0" err="1" smtClean="0"/>
              <a:t>listener</a:t>
            </a:r>
            <a:r>
              <a:rPr lang="es-EC" sz="2000" dirty="0" smtClean="0"/>
              <a:t>.</a:t>
            </a:r>
          </a:p>
          <a:p>
            <a:pPr algn="just"/>
            <a:r>
              <a:rPr lang="es-EC" sz="2000" dirty="0" smtClean="0"/>
              <a:t>-p : </a:t>
            </a:r>
            <a:r>
              <a:rPr lang="es-EC" sz="2000" dirty="0"/>
              <a:t>elijo el </a:t>
            </a:r>
            <a:r>
              <a:rPr lang="es-EC" sz="2000" dirty="0" smtClean="0"/>
              <a:t>puerto.</a:t>
            </a:r>
          </a:p>
          <a:p>
            <a:pPr algn="just"/>
            <a:r>
              <a:rPr lang="es-EC" sz="2000" dirty="0" smtClean="0"/>
              <a:t>-e : </a:t>
            </a:r>
            <a:r>
              <a:rPr lang="es-MX" sz="2000" dirty="0" err="1"/>
              <a:t>envia</a:t>
            </a:r>
            <a:r>
              <a:rPr lang="es-MX" sz="2000" dirty="0"/>
              <a:t> lo que recibe a un </a:t>
            </a:r>
            <a:r>
              <a:rPr lang="es-MX" sz="2000" dirty="0" smtClean="0"/>
              <a:t>ejecutable por ejemplo se usa </a:t>
            </a:r>
            <a:r>
              <a:rPr lang="es-EC" sz="2000" dirty="0"/>
              <a:t>/</a:t>
            </a:r>
            <a:r>
              <a:rPr lang="es-EC" sz="2000" dirty="0" err="1" smtClean="0"/>
              <a:t>bin</a:t>
            </a:r>
            <a:r>
              <a:rPr lang="es-EC" sz="2000" dirty="0" smtClean="0"/>
              <a:t>/</a:t>
            </a:r>
            <a:r>
              <a:rPr lang="es-EC" sz="2000" dirty="0" err="1" smtClean="0"/>
              <a:t>sh</a:t>
            </a:r>
            <a:r>
              <a:rPr lang="es-EC" sz="2000" dirty="0" smtClean="0"/>
              <a:t> </a:t>
            </a:r>
            <a:r>
              <a:rPr lang="es-EC" sz="2000" dirty="0"/>
              <a:t>que es el </a:t>
            </a:r>
            <a:r>
              <a:rPr lang="es-EC" sz="2000" dirty="0" smtClean="0"/>
              <a:t>Shell.</a:t>
            </a:r>
          </a:p>
          <a:p>
            <a:pPr algn="just"/>
            <a:r>
              <a:rPr lang="es-EC" sz="2000" dirty="0" smtClean="0"/>
              <a:t>-L : </a:t>
            </a:r>
            <a:r>
              <a:rPr lang="es-EC" sz="2000" dirty="0"/>
              <a:t>crea la </a:t>
            </a:r>
            <a:r>
              <a:rPr lang="es-EC" sz="2000" dirty="0" err="1"/>
              <a:t>conexion</a:t>
            </a:r>
            <a:r>
              <a:rPr lang="es-EC" sz="2000" dirty="0"/>
              <a:t> </a:t>
            </a:r>
            <a:r>
              <a:rPr lang="es-EC" sz="2000" dirty="0" smtClean="0"/>
              <a:t>permanentemente.</a:t>
            </a:r>
          </a:p>
          <a:p>
            <a:pPr algn="just"/>
            <a:r>
              <a:rPr lang="es-EC" sz="2000" dirty="0" err="1"/>
              <a:t>nc</a:t>
            </a:r>
            <a:r>
              <a:rPr lang="es-EC" sz="2000" dirty="0"/>
              <a:t> &lt;</a:t>
            </a:r>
            <a:r>
              <a:rPr lang="es-EC" sz="2000" dirty="0" err="1"/>
              <a:t>ip_address</a:t>
            </a:r>
            <a:r>
              <a:rPr lang="es-EC" sz="2000" dirty="0"/>
              <a:t>&gt; &lt;</a:t>
            </a:r>
            <a:r>
              <a:rPr lang="es-EC" sz="2000" dirty="0" err="1"/>
              <a:t>nro_puerto</a:t>
            </a:r>
            <a:r>
              <a:rPr lang="es-EC" sz="2000" dirty="0" smtClean="0"/>
              <a:t>&gt; : </a:t>
            </a:r>
            <a:r>
              <a:rPr lang="es-MX" sz="2000" dirty="0" smtClean="0"/>
              <a:t>Realiza </a:t>
            </a:r>
            <a:r>
              <a:rPr lang="es-MX" sz="2000" dirty="0"/>
              <a:t>una conexión con el puerto abierto a través de </a:t>
            </a:r>
            <a:r>
              <a:rPr lang="es-MX" sz="2000" dirty="0" err="1" smtClean="0"/>
              <a:t>NetCat</a:t>
            </a:r>
            <a:r>
              <a:rPr lang="es-MX" sz="2000" dirty="0" smtClean="0"/>
              <a:t>.</a:t>
            </a:r>
            <a:endParaRPr lang="es-EC" sz="2000" dirty="0"/>
          </a:p>
        </p:txBody>
      </p:sp>
    </p:spTree>
    <p:extLst>
      <p:ext uri="{BB962C8B-B14F-4D97-AF65-F5344CB8AC3E}">
        <p14:creationId xmlns:p14="http://schemas.microsoft.com/office/powerpoint/2010/main" val="27054937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smtClean="0"/>
              <a:t>Reporte final de </a:t>
            </a:r>
            <a:r>
              <a:rPr lang="es-EC" b="1" dirty="0" err="1" smtClean="0"/>
              <a:t>Pentesting</a:t>
            </a:r>
            <a:endParaRPr lang="es-EC" b="1" dirty="0"/>
          </a:p>
        </p:txBody>
      </p:sp>
      <p:sp>
        <p:nvSpPr>
          <p:cNvPr id="3" name="Marcador de contenido 2"/>
          <p:cNvSpPr>
            <a:spLocks noGrp="1"/>
          </p:cNvSpPr>
          <p:nvPr>
            <p:ph idx="1"/>
          </p:nvPr>
        </p:nvSpPr>
        <p:spPr/>
        <p:txBody>
          <a:bodyPr>
            <a:normAutofit/>
          </a:bodyPr>
          <a:lstStyle/>
          <a:p>
            <a:pPr marL="0" indent="0" algn="just">
              <a:buNone/>
            </a:pPr>
            <a:r>
              <a:rPr lang="es-EC" sz="2000" dirty="0" smtClean="0"/>
              <a:t>¿Qué información se tiene?</a:t>
            </a:r>
          </a:p>
          <a:p>
            <a:pPr algn="just"/>
            <a:r>
              <a:rPr lang="es-EC" sz="2000" dirty="0" smtClean="0"/>
              <a:t>Información base</a:t>
            </a:r>
          </a:p>
          <a:p>
            <a:pPr algn="just"/>
            <a:r>
              <a:rPr lang="es-EC" sz="2000" dirty="0" smtClean="0"/>
              <a:t>Vulnerabilidades</a:t>
            </a:r>
          </a:p>
          <a:p>
            <a:pPr algn="just"/>
            <a:r>
              <a:rPr lang="es-EC" sz="2000" dirty="0" smtClean="0"/>
              <a:t>Resultados de explotación </a:t>
            </a:r>
          </a:p>
          <a:p>
            <a:pPr algn="just"/>
            <a:r>
              <a:rPr lang="es-EC" sz="2000" dirty="0" smtClean="0"/>
              <a:t>Puertas traseras</a:t>
            </a:r>
          </a:p>
        </p:txBody>
      </p:sp>
      <p:pic>
        <p:nvPicPr>
          <p:cNvPr id="21508" name="Picture 4" descr="Resultado de imagen para repor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4769" y="2011349"/>
            <a:ext cx="4799843" cy="38998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13907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a:t>Estructura de un reporte</a:t>
            </a:r>
            <a:endParaRPr lang="es-EC" dirty="0"/>
          </a:p>
        </p:txBody>
      </p:sp>
      <p:sp>
        <p:nvSpPr>
          <p:cNvPr id="3" name="Marcador de contenido 2"/>
          <p:cNvSpPr>
            <a:spLocks noGrp="1"/>
          </p:cNvSpPr>
          <p:nvPr>
            <p:ph idx="1"/>
          </p:nvPr>
        </p:nvSpPr>
        <p:spPr/>
        <p:txBody>
          <a:bodyPr/>
          <a:lstStyle/>
          <a:p>
            <a:pPr>
              <a:buFont typeface="+mj-lt"/>
              <a:buAutoNum type="arabicPeriod"/>
            </a:pPr>
            <a:r>
              <a:rPr lang="es-EC" dirty="0" smtClean="0"/>
              <a:t>Comenzar con un resumen ejecutivo</a:t>
            </a:r>
          </a:p>
          <a:p>
            <a:pPr>
              <a:buFont typeface="+mj-lt"/>
              <a:buAutoNum type="arabicPeriod"/>
            </a:pPr>
            <a:r>
              <a:rPr lang="es-EC" dirty="0" smtClean="0"/>
              <a:t>Hallazgos principales</a:t>
            </a:r>
          </a:p>
          <a:p>
            <a:pPr>
              <a:buFont typeface="+mj-lt"/>
              <a:buAutoNum type="arabicPeriod"/>
            </a:pPr>
            <a:r>
              <a:rPr lang="es-EC" dirty="0" smtClean="0"/>
              <a:t>Lista de acciones ejecutadas</a:t>
            </a:r>
          </a:p>
          <a:p>
            <a:pPr>
              <a:buFont typeface="+mj-lt"/>
              <a:buAutoNum type="arabicPeriod"/>
            </a:pPr>
            <a:r>
              <a:rPr lang="es-EC" dirty="0" smtClean="0"/>
              <a:t>Reporte detallado</a:t>
            </a:r>
          </a:p>
          <a:p>
            <a:pPr>
              <a:buFont typeface="+mj-lt"/>
              <a:buAutoNum type="arabicPeriod"/>
            </a:pPr>
            <a:r>
              <a:rPr lang="es-EC" dirty="0" smtClean="0"/>
              <a:t>Información “cruda”</a:t>
            </a:r>
          </a:p>
          <a:p>
            <a:pPr>
              <a:buFont typeface="+mj-lt"/>
              <a:buAutoNum type="arabicPeriod"/>
            </a:pPr>
            <a:r>
              <a:rPr lang="es-EC" dirty="0" smtClean="0"/>
              <a:t>Recomendaciones</a:t>
            </a:r>
          </a:p>
        </p:txBody>
      </p:sp>
      <p:pic>
        <p:nvPicPr>
          <p:cNvPr id="22530" name="Picture 2" descr="Resultado de imagen para repor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9101" y="3468125"/>
            <a:ext cx="4802817" cy="26716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5678467"/>
      </p:ext>
    </p:extLst>
  </p:cSld>
  <p:clrMapOvr>
    <a:masterClrMapping/>
  </p:clrMapOvr>
</p:sld>
</file>

<file path=ppt/theme/theme1.xml><?xml version="1.0" encoding="utf-8"?>
<a:theme xmlns:a="http://schemas.openxmlformats.org/drawingml/2006/main" name="Espiral">
  <a:themeElements>
    <a:clrScheme name="Espiral">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Espiral">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Espiral">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601</TotalTime>
  <Words>1926</Words>
  <Application>Microsoft Office PowerPoint</Application>
  <PresentationFormat>Panorámica</PresentationFormat>
  <Paragraphs>204</Paragraphs>
  <Slides>40</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40</vt:i4>
      </vt:variant>
    </vt:vector>
  </HeadingPairs>
  <TitlesOfParts>
    <vt:vector size="44" baseType="lpstr">
      <vt:lpstr>Arial</vt:lpstr>
      <vt:lpstr>Century Gothic</vt:lpstr>
      <vt:lpstr>Wingdings 3</vt:lpstr>
      <vt:lpstr>Espiral</vt:lpstr>
      <vt:lpstr>INSTITUTO SUPERIOR TECNOLOGICO “RUMIÑAHUI”  SEGURIDAD INFORMÁTICA  6to SISTEMAS  PAOLA VILLA</vt:lpstr>
      <vt:lpstr>Pentesting</vt:lpstr>
      <vt:lpstr>Fases del Pentesting</vt:lpstr>
      <vt:lpstr>Google Directives / Google Dorks</vt:lpstr>
      <vt:lpstr>Email Harvesting</vt:lpstr>
      <vt:lpstr>Netcraft</vt:lpstr>
      <vt:lpstr>Whois</vt:lpstr>
      <vt:lpstr>Zonas de transferencia y brute-force a DNS</vt:lpstr>
      <vt:lpstr>¿Cómo funciona DNS?</vt:lpstr>
      <vt:lpstr>HTTrack</vt:lpstr>
      <vt:lpstr>Fase de escaneo</vt:lpstr>
      <vt:lpstr>UDP</vt:lpstr>
      <vt:lpstr>Nmap Scripting Engine</vt:lpstr>
      <vt:lpstr>Metasploit</vt:lpstr>
      <vt:lpstr>Presentación de PowerPoint</vt:lpstr>
      <vt:lpstr>Armitage</vt:lpstr>
      <vt:lpstr>Medusa</vt:lpstr>
      <vt:lpstr>Presentación de PowerPoint</vt:lpstr>
      <vt:lpstr>Ataques contraseñas Linux</vt:lpstr>
      <vt:lpstr>Ataques contraseñas Windows</vt:lpstr>
      <vt:lpstr>Rainbow Tables</vt:lpstr>
      <vt:lpstr>Configuraciones de un enrutador con dd-wrt</vt:lpstr>
      <vt:lpstr>Interfaces en modo monitor con Airmon-ng</vt:lpstr>
      <vt:lpstr>Ataque a una red wifi con Aircrak/ng</vt:lpstr>
      <vt:lpstr>Ingeniería Social</vt:lpstr>
      <vt:lpstr>Ataque con SET</vt:lpstr>
      <vt:lpstr>Credential Harvesting</vt:lpstr>
      <vt:lpstr>Ataques web</vt:lpstr>
      <vt:lpstr>Análisis de servicios web (Nikto)</vt:lpstr>
      <vt:lpstr>Webscarab</vt:lpstr>
      <vt:lpstr>Golismero - OWASP</vt:lpstr>
      <vt:lpstr>Ataques de inyección de código</vt:lpstr>
      <vt:lpstr>Presentación de PowerPoint</vt:lpstr>
      <vt:lpstr>Ataques XSS</vt:lpstr>
      <vt:lpstr>ZED Attack Proxy</vt:lpstr>
      <vt:lpstr>Meterpreter</vt:lpstr>
      <vt:lpstr>Presentación de PowerPoint</vt:lpstr>
      <vt:lpstr>NetCat</vt:lpstr>
      <vt:lpstr>Reporte final de Pentesting</vt:lpstr>
      <vt:lpstr>Estructura de un reporte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INSTITUTO SUPERIOR TECNOLOGICO “RUMIÑAHUI”  SEGURIDAD INFORMÁTICA  6to SISTEMAS  PAOLA VILLA</dc:title>
  <dc:creator>Alexandra Villa</dc:creator>
  <cp:lastModifiedBy>Alexandra Villa</cp:lastModifiedBy>
  <cp:revision>26</cp:revision>
  <dcterms:created xsi:type="dcterms:W3CDTF">2019-02-26T21:48:22Z</dcterms:created>
  <dcterms:modified xsi:type="dcterms:W3CDTF">2019-02-28T18:39:39Z</dcterms:modified>
</cp:coreProperties>
</file>